
<file path=[Content_Types].xml><?xml version="1.0" encoding="utf-8"?>
<Types xmlns="http://schemas.openxmlformats.org/package/2006/content-types">
  <Default Extension="jpeg" ContentType="image/jpeg"/>
  <Default Extension="JPG" ContentType="image/.jp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3"/>
    <p:sldId id="299" r:id="rId4"/>
    <p:sldId id="278" r:id="rId5"/>
    <p:sldId id="258" r:id="rId6"/>
    <p:sldId id="300" r:id="rId7"/>
    <p:sldId id="301" r:id="rId8"/>
    <p:sldId id="302" r:id="rId9"/>
    <p:sldId id="303" r:id="rId10"/>
    <p:sldId id="298" r:id="rId11"/>
    <p:sldId id="304" r:id="rId12"/>
    <p:sldId id="305" r:id="rId13"/>
    <p:sldId id="308" r:id="rId14"/>
    <p:sldId id="309" r:id="rId15"/>
    <p:sldId id="310" r:id="rId16"/>
    <p:sldId id="306" r:id="rId17"/>
    <p:sldId id="311" r:id="rId18"/>
    <p:sldId id="307" r:id="rId1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7" autoAdjust="0"/>
    <p:restoredTop sz="94624" autoAdjust="0"/>
  </p:normalViewPr>
  <p:slideViewPr>
    <p:cSldViewPr showGuides="1">
      <p:cViewPr varScale="1">
        <p:scale>
          <a:sx n="87" d="100"/>
          <a:sy n="87" d="100"/>
        </p:scale>
        <p:origin x="-1062"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05A3B37-783E-4607-B44D-60AF59E710EC}" type="datetimeFigureOut">
              <a:rPr lang="fr-FR" smtClean="0"/>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835848E-F6DF-498D-882B-5B5457122C63}" type="slidenum">
              <a:rPr lang="fr-FR" smtClean="0"/>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Modifiez le style du titre</a:t>
            </a:r>
            <a:endParaRPr lang="fr-FR"/>
          </a:p>
        </p:txBody>
      </p:sp>
      <p:sp>
        <p:nvSpPr>
          <p:cNvPr id="3" name="Sous-titre 2"/>
          <p:cNvSpPr>
            <a:spLocks noGrp="1"/>
          </p:cNvSpPr>
          <p:nvPr>
            <p:ph type="subTitle" idx="1" hasCustomPrompt="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8A865E80-AFAF-4F4B-B558-655F13E4943E}" type="datetime1">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7375FD2-DBB5-4A0E-BDFA-0EBC96D80B86}" type="slidenum">
              <a:rPr lang="fr-FR" smtClean="0"/>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hasCustomPrompt="1"/>
          </p:nvPr>
        </p:nvSpPr>
        <p:spPr/>
        <p:txBody>
          <a:bodyPr/>
          <a:lstStyle/>
          <a:p>
            <a:pPr lvl="0"/>
            <a:r>
              <a:rPr lang="fr-FR" smtClean="0"/>
              <a:t>Modifiez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BE4713F-B07D-4305-9BBC-A5431F9E4B69}" type="datetime1">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7375FD2-DBB5-4A0E-BDFA-0EBC96D80B86}" type="slidenum">
              <a:rPr lang="fr-FR" smtClean="0"/>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Modifiez le style du titre</a:t>
            </a:r>
            <a:endParaRPr lang="fr-FR"/>
          </a:p>
        </p:txBody>
      </p:sp>
      <p:sp>
        <p:nvSpPr>
          <p:cNvPr id="3" name="Espace réservé du texte 2"/>
          <p:cNvSpPr>
            <a:spLocks noGrp="1"/>
          </p:cNvSpPr>
          <p:nvPr>
            <p:ph type="body" idx="1" hasCustomPrompt="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endParaRPr lang="fr-FR" smtClean="0"/>
          </a:p>
        </p:txBody>
      </p:sp>
      <p:sp>
        <p:nvSpPr>
          <p:cNvPr id="4" name="Espace réservé de la date 3"/>
          <p:cNvSpPr>
            <a:spLocks noGrp="1"/>
          </p:cNvSpPr>
          <p:nvPr>
            <p:ph type="dt" sz="half" idx="10"/>
          </p:nvPr>
        </p:nvSpPr>
        <p:spPr/>
        <p:txBody>
          <a:bodyPr/>
          <a:lstStyle/>
          <a:p>
            <a:fld id="{BA25A2E9-98B2-493D-A792-11C60471216B}" type="datetime1">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7375FD2-DBB5-4A0E-BDFA-0EBC96D80B86}" type="slidenum">
              <a:rPr lang="fr-FR" smtClean="0"/>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hasCustomPrompt="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u contenu 3"/>
          <p:cNvSpPr>
            <a:spLocks noGrp="1"/>
          </p:cNvSpPr>
          <p:nvPr>
            <p:ph sz="half" idx="2" hasCustomPrompt="1"/>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6D92CB77-38D9-4DA6-8DC9-64B73120398B}" type="datetime1">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7375FD2-DBB5-4A0E-BDFA-0EBC96D80B86}" type="slidenum">
              <a:rPr lang="fr-FR" smtClean="0"/>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Modifiez le style du titre</a:t>
            </a:r>
            <a:endParaRPr lang="fr-FR"/>
          </a:p>
        </p:txBody>
      </p:sp>
      <p:sp>
        <p:nvSpPr>
          <p:cNvPr id="3" name="Espace réservé du texte 2"/>
          <p:cNvSpPr>
            <a:spLocks noGrp="1"/>
          </p:cNvSpPr>
          <p:nvPr>
            <p:ph type="body" idx="1" hasCustomPrompt="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endParaRPr lang="fr-FR" smtClean="0"/>
          </a:p>
        </p:txBody>
      </p:sp>
      <p:sp>
        <p:nvSpPr>
          <p:cNvPr id="4" name="Espace réservé du contenu 3"/>
          <p:cNvSpPr>
            <a:spLocks noGrp="1"/>
          </p:cNvSpPr>
          <p:nvPr>
            <p:ph sz="half" idx="2" hasCustomPrompt="1"/>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5" name="Espace réservé du texte 4"/>
          <p:cNvSpPr>
            <a:spLocks noGrp="1"/>
          </p:cNvSpPr>
          <p:nvPr>
            <p:ph type="body" sz="quarter" idx="3" hasCustomPrompt="1"/>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endParaRPr lang="fr-FR" smtClean="0"/>
          </a:p>
        </p:txBody>
      </p:sp>
      <p:sp>
        <p:nvSpPr>
          <p:cNvPr id="6" name="Espace réservé du contenu 5"/>
          <p:cNvSpPr>
            <a:spLocks noGrp="1"/>
          </p:cNvSpPr>
          <p:nvPr>
            <p:ph sz="quarter" idx="4" hasCustomPrompt="1"/>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FB8226C8-DF72-42DB-A322-54B00ACC7702}" type="datetime1">
              <a:rPr lang="fr-FR" smtClean="0"/>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D7375FD2-DBB5-4A0E-BDFA-0EBC96D80B86}" type="slidenum">
              <a:rPr lang="fr-FR" smtClean="0"/>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77D6348C-AB4B-4ECA-9C89-EBD6DE1B2990}" type="datetime1">
              <a:rPr lang="fr-FR" smtClean="0"/>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D7375FD2-DBB5-4A0E-BDFA-0EBC96D80B86}" type="slidenum">
              <a:rPr lang="fr-FR" smtClean="0"/>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882E5398-934E-4589-8CFC-2CB1858A9F8A}" type="datetime1">
              <a:rPr lang="fr-FR" smtClean="0"/>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D7375FD2-DBB5-4A0E-BDFA-0EBC96D80B86}" type="slidenum">
              <a:rPr lang="fr-FR" smtClean="0"/>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Modifiez le style du titre</a:t>
            </a:r>
            <a:endParaRPr lang="fr-FR"/>
          </a:p>
        </p:txBody>
      </p:sp>
      <p:sp>
        <p:nvSpPr>
          <p:cNvPr id="3" name="Espace réservé du contenu 2"/>
          <p:cNvSpPr>
            <a:spLocks noGrp="1"/>
          </p:cNvSpPr>
          <p:nvPr>
            <p:ph idx="1" hasCustomPrompt="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u texte 3"/>
          <p:cNvSpPr>
            <a:spLocks noGrp="1"/>
          </p:cNvSpPr>
          <p:nvPr>
            <p:ph type="body" sz="half" idx="2" hasCustomPrompt="1"/>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endParaRPr lang="fr-FR" smtClean="0"/>
          </a:p>
        </p:txBody>
      </p:sp>
      <p:sp>
        <p:nvSpPr>
          <p:cNvPr id="5" name="Espace réservé de la date 4"/>
          <p:cNvSpPr>
            <a:spLocks noGrp="1"/>
          </p:cNvSpPr>
          <p:nvPr>
            <p:ph type="dt" sz="half" idx="10"/>
          </p:nvPr>
        </p:nvSpPr>
        <p:spPr/>
        <p:txBody>
          <a:bodyPr/>
          <a:lstStyle/>
          <a:p>
            <a:fld id="{18235EE6-24FB-4F28-9A47-9D5F0626DEFE}" type="datetime1">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7375FD2-DBB5-4A0E-BDFA-0EBC96D80B86}" type="slidenum">
              <a:rPr lang="fr-FR" smtClean="0"/>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Modifiez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fr-FR"/>
          </a:p>
        </p:txBody>
      </p:sp>
      <p:sp>
        <p:nvSpPr>
          <p:cNvPr id="4" name="Espace réservé du texte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endParaRPr lang="fr-FR" smtClean="0"/>
          </a:p>
        </p:txBody>
      </p:sp>
      <p:sp>
        <p:nvSpPr>
          <p:cNvPr id="5" name="Espace réservé de la date 4"/>
          <p:cNvSpPr>
            <a:spLocks noGrp="1"/>
          </p:cNvSpPr>
          <p:nvPr>
            <p:ph type="dt" sz="half" idx="10"/>
          </p:nvPr>
        </p:nvSpPr>
        <p:spPr/>
        <p:txBody>
          <a:bodyPr/>
          <a:lstStyle/>
          <a:p>
            <a:fld id="{86186C32-D90B-4F35-A8D9-FB193E8A08E2}" type="datetime1">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7375FD2-DBB5-4A0E-BDFA-0EBC96D80B86}" type="slidenum">
              <a:rPr lang="fr-FR" smtClean="0"/>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hasCustomPrompt="1"/>
          </p:nvPr>
        </p:nvSpPr>
        <p:spPr/>
        <p:txBody>
          <a:bodyPr vert="eaVert"/>
          <a:lstStyle/>
          <a:p>
            <a:pPr lvl="0"/>
            <a:r>
              <a:rPr lang="fr-FR" smtClean="0"/>
              <a:t>Modifiez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1AD869F7-C329-490B-87B5-1022DD580405}" type="datetime1">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7375FD2-DBB5-4A0E-BDFA-0EBC96D80B86}" type="slidenum">
              <a:rPr lang="fr-FR" smtClean="0"/>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hasCustomPrompt="1"/>
          </p:nvPr>
        </p:nvSpPr>
        <p:spPr>
          <a:xfrm>
            <a:off x="457200" y="274638"/>
            <a:ext cx="6019800" cy="5851525"/>
          </a:xfrm>
        </p:spPr>
        <p:txBody>
          <a:bodyPr vert="eaVert"/>
          <a:lstStyle/>
          <a:p>
            <a:pPr lvl="0"/>
            <a:r>
              <a:rPr lang="fr-FR" smtClean="0"/>
              <a:t>Modifiez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E63C3BC-094E-4F78-A58B-552BE82BFB39}" type="datetime1">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7375FD2-DBB5-4A0E-BDFA-0EBC96D80B86}" type="slidenum">
              <a:rPr lang="fr-FR" smtClean="0"/>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endParaRPr lang="fr-FR" smtClean="0"/>
          </a:p>
          <a:p>
            <a:pPr lvl="1"/>
            <a:r>
              <a:rPr lang="fr-FR" smtClean="0"/>
              <a:t>Deuxième niveau</a:t>
            </a:r>
            <a:endParaRPr lang="fr-FR" smtClean="0"/>
          </a:p>
          <a:p>
            <a:pPr lvl="2"/>
            <a:r>
              <a:rPr lang="fr-FR" smtClean="0"/>
              <a:t>Troisième niveau</a:t>
            </a:r>
            <a:endParaRPr lang="fr-FR" smtClean="0"/>
          </a:p>
          <a:p>
            <a:pPr lvl="3"/>
            <a:r>
              <a:rPr lang="fr-FR" smtClean="0"/>
              <a:t>Quatrième niveau</a:t>
            </a:r>
            <a:endParaRPr lang="fr-FR" smtClean="0"/>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54FA25-F290-49D6-A5DB-DC873E23232A}" type="datetime1">
              <a:rPr lang="fr-FR" smtClean="0"/>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375FD2-DBB5-4A0E-BDFA-0EBC96D80B86}" type="slidenum">
              <a:rPr lang="fr-FR" smtClean="0"/>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GIF"/><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custDataLst>
              <p:tags r:id="rId1"/>
            </p:custDataLst>
          </p:nvPr>
        </p:nvSpPr>
        <p:spPr>
          <a:xfrm>
            <a:off x="0" y="6572272"/>
            <a:ext cx="9144000" cy="28572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fr-FR"/>
          </a:p>
        </p:txBody>
      </p:sp>
      <p:sp>
        <p:nvSpPr>
          <p:cNvPr id="26" name="Rectangle 25"/>
          <p:cNvSpPr/>
          <p:nvPr>
            <p:custDataLst>
              <p:tags r:id="rId2"/>
            </p:custDataLst>
          </p:nvPr>
        </p:nvSpPr>
        <p:spPr>
          <a:xfrm>
            <a:off x="0" y="0"/>
            <a:ext cx="9144000" cy="28572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fr-FR">
              <a:solidFill>
                <a:srgbClr val="00B0F0"/>
              </a:solidFill>
            </a:endParaRPr>
          </a:p>
        </p:txBody>
      </p:sp>
      <p:sp>
        <p:nvSpPr>
          <p:cNvPr id="21" name="Rectangle à coins arrondis 20"/>
          <p:cNvSpPr/>
          <p:nvPr/>
        </p:nvSpPr>
        <p:spPr>
          <a:xfrm>
            <a:off x="0" y="1988840"/>
            <a:ext cx="9020743" cy="1454849"/>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fr-FR" sz="6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HTML 5  ET  CSS 3</a:t>
            </a:r>
            <a:endParaRPr lang="fr-FR" sz="6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randombar(horizontal)">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custDataLst>
              <p:tags r:id="rId1"/>
            </p:custDataLst>
          </p:nvPr>
        </p:nvSpPr>
        <p:spPr>
          <a:xfrm>
            <a:off x="0" y="0"/>
            <a:ext cx="9144000" cy="92867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fr-FR" sz="3200" b="1" dirty="0">
                <a:latin typeface="Arial" panose="020B0604020202020204" pitchFamily="34" charset="0"/>
                <a:cs typeface="Arial" panose="020B0604020202020204" pitchFamily="34" charset="0"/>
              </a:rPr>
              <a:t>HyperText </a:t>
            </a:r>
            <a:r>
              <a:rPr lang="fr-FR" sz="3200" b="1" dirty="0" err="1">
                <a:latin typeface="Arial" panose="020B0604020202020204" pitchFamily="34" charset="0"/>
                <a:cs typeface="Arial" panose="020B0604020202020204" pitchFamily="34" charset="0"/>
              </a:rPr>
              <a:t>Markup</a:t>
            </a:r>
            <a:r>
              <a:rPr lang="fr-FR" sz="3200" b="1" dirty="0">
                <a:latin typeface="Arial" panose="020B0604020202020204" pitchFamily="34" charset="0"/>
                <a:cs typeface="Arial" panose="020B0604020202020204" pitchFamily="34" charset="0"/>
              </a:rPr>
              <a:t> </a:t>
            </a:r>
            <a:r>
              <a:rPr lang="fr-FR" sz="3200" b="1" dirty="0" err="1">
                <a:latin typeface="Arial" panose="020B0604020202020204" pitchFamily="34" charset="0"/>
                <a:cs typeface="Arial" panose="020B0604020202020204" pitchFamily="34" charset="0"/>
              </a:rPr>
              <a:t>Language</a:t>
            </a:r>
            <a:endParaRPr lang="fr-FR" sz="3200" b="1" dirty="0" smtClean="0">
              <a:latin typeface="Arial" panose="020B0604020202020204" pitchFamily="34" charset="0"/>
              <a:cs typeface="Arial" panose="020B0604020202020204" pitchFamily="34" charset="0"/>
            </a:endParaRPr>
          </a:p>
        </p:txBody>
      </p:sp>
      <p:sp>
        <p:nvSpPr>
          <p:cNvPr id="4" name="Rectangle 3"/>
          <p:cNvSpPr/>
          <p:nvPr/>
        </p:nvSpPr>
        <p:spPr>
          <a:xfrm>
            <a:off x="215516" y="1124744"/>
            <a:ext cx="8712968" cy="5355312"/>
          </a:xfrm>
          <a:prstGeom prst="rect">
            <a:avLst/>
          </a:prstGeom>
        </p:spPr>
        <p:txBody>
          <a:bodyPr wrap="square">
            <a:spAutoFit/>
          </a:bodyPr>
          <a:lstStyle/>
          <a:p>
            <a:pPr marL="285750" indent="-285750">
              <a:buFont typeface="Arial" panose="020B0604020202020204" pitchFamily="34" charset="0"/>
              <a:buChar char="•"/>
            </a:pPr>
            <a:r>
              <a:rPr lang="fr-FR" dirty="0">
                <a:solidFill>
                  <a:srgbClr val="000000"/>
                </a:solidFill>
                <a:latin typeface="TimesNewRomanPSMT"/>
              </a:rPr>
              <a:t>Un fichier HTML est un fichier texte simple, parfaitement lisible, respectant un ensemble de convention d'écriture</a:t>
            </a:r>
            <a:r>
              <a:rPr lang="fr-FR" dirty="0" smtClean="0">
                <a:solidFill>
                  <a:srgbClr val="000000"/>
                </a:solidFill>
                <a:latin typeface="TimesNewRomanPSMT"/>
              </a:rPr>
              <a:t>.</a:t>
            </a:r>
            <a:endParaRPr lang="fr-FR" dirty="0" smtClean="0">
              <a:solidFill>
                <a:srgbClr val="000000"/>
              </a:solidFill>
              <a:latin typeface="TimesNewRomanPSMT"/>
            </a:endParaRPr>
          </a:p>
          <a:p>
            <a:endParaRPr lang="fr-FR" dirty="0" smtClean="0">
              <a:solidFill>
                <a:srgbClr val="000000"/>
              </a:solidFill>
              <a:latin typeface="TimesNewRomanPSMT"/>
            </a:endParaRPr>
          </a:p>
          <a:p>
            <a:pPr marL="285750" indent="-285750">
              <a:buFont typeface="Arial" panose="020B0604020202020204" pitchFamily="34" charset="0"/>
              <a:buChar char="•"/>
            </a:pPr>
            <a:r>
              <a:rPr lang="fr-FR" dirty="0">
                <a:solidFill>
                  <a:srgbClr val="000000"/>
                </a:solidFill>
                <a:latin typeface="SymbolMT"/>
              </a:rPr>
              <a:t> </a:t>
            </a:r>
            <a:r>
              <a:rPr lang="fr-FR" dirty="0">
                <a:solidFill>
                  <a:srgbClr val="000000"/>
                </a:solidFill>
                <a:latin typeface="TimesNewRomanPSMT"/>
              </a:rPr>
              <a:t>Un fichier HTML peut être écrit à l'aide de n'importe quel éditeur de texte simple (des éditeurs plus évolués existent également</a:t>
            </a:r>
            <a:r>
              <a:rPr lang="fr-FR" dirty="0" smtClean="0">
                <a:solidFill>
                  <a:srgbClr val="000000"/>
                </a:solidFill>
                <a:latin typeface="TimesNewRomanPSMT"/>
              </a:rPr>
              <a:t>)</a:t>
            </a:r>
            <a:endParaRPr lang="fr-FR" dirty="0" smtClean="0">
              <a:solidFill>
                <a:srgbClr val="000000"/>
              </a:solidFill>
              <a:latin typeface="TimesNewRomanPSMT"/>
            </a:endParaRPr>
          </a:p>
          <a:p>
            <a:endParaRPr lang="fr-FR" dirty="0">
              <a:solidFill>
                <a:srgbClr val="000000"/>
              </a:solidFill>
              <a:latin typeface="TimesNewRomanPSMT"/>
            </a:endParaRPr>
          </a:p>
          <a:p>
            <a:pPr marL="285750" indent="-285750">
              <a:buFont typeface="Arial" panose="020B0604020202020204" pitchFamily="34" charset="0"/>
              <a:buChar char="•"/>
            </a:pPr>
            <a:r>
              <a:rPr lang="fr-FR" dirty="0">
                <a:solidFill>
                  <a:srgbClr val="000000"/>
                </a:solidFill>
                <a:latin typeface="TimesNewRomanPSMT"/>
              </a:rPr>
              <a:t>Lorsque vous consultez un site web, les fichiers HTML (extension .htm ou .html) sont envoyés à votre navigateur et le code html est interprété sur VOTRE machine par VOTRE navigateur</a:t>
            </a:r>
            <a:r>
              <a:rPr lang="fr-FR" dirty="0" smtClean="0">
                <a:solidFill>
                  <a:srgbClr val="000000"/>
                </a:solidFill>
                <a:latin typeface="TimesNewRomanPSMT"/>
              </a:rPr>
              <a:t>.</a:t>
            </a:r>
            <a:endParaRPr lang="fr-FR" dirty="0" smtClean="0">
              <a:solidFill>
                <a:srgbClr val="000000"/>
              </a:solidFill>
              <a:latin typeface="TimesNewRomanPSMT"/>
            </a:endParaRPr>
          </a:p>
          <a:p>
            <a:endParaRPr lang="fr-FR" dirty="0">
              <a:solidFill>
                <a:srgbClr val="000000"/>
              </a:solidFill>
              <a:latin typeface="TimesNewRomanPSMT"/>
            </a:endParaRPr>
          </a:p>
          <a:p>
            <a:pPr marL="285750" indent="-285750">
              <a:buFont typeface="Arial" panose="020B0604020202020204" pitchFamily="34" charset="0"/>
              <a:buChar char="•"/>
            </a:pPr>
            <a:r>
              <a:rPr lang="fr-FR" dirty="0">
                <a:solidFill>
                  <a:srgbClr val="000000"/>
                </a:solidFill>
                <a:latin typeface="TimesNewRomanPSMT"/>
              </a:rPr>
              <a:t>Il n'est pas indispensable de posséder un serveur HTTP pour écrire des pages. Vous pouvez utiliser la fonction « Ouvrir » de votre navigateur pour consulter une page HTML enregistrée sur votre ordinateur (ou une page que vous avez vous-même créée</a:t>
            </a:r>
            <a:r>
              <a:rPr lang="fr-FR" dirty="0" smtClean="0">
                <a:solidFill>
                  <a:srgbClr val="000000"/>
                </a:solidFill>
                <a:latin typeface="TimesNewRomanPSMT"/>
              </a:rPr>
              <a:t>).</a:t>
            </a:r>
            <a:endParaRPr lang="fr-FR" dirty="0" smtClean="0">
              <a:solidFill>
                <a:srgbClr val="000000"/>
              </a:solidFill>
              <a:latin typeface="TimesNewRomanPSMT"/>
            </a:endParaRPr>
          </a:p>
          <a:p>
            <a:endParaRPr lang="fr-FR" dirty="0">
              <a:solidFill>
                <a:srgbClr val="000000"/>
              </a:solidFill>
              <a:latin typeface="TimesNewRomanPSMT"/>
            </a:endParaRPr>
          </a:p>
          <a:p>
            <a:pPr marL="285750" indent="-285750">
              <a:buFont typeface="Arial" panose="020B0604020202020204" pitchFamily="34" charset="0"/>
              <a:buChar char="•"/>
            </a:pPr>
            <a:r>
              <a:rPr lang="fr-FR" dirty="0">
                <a:solidFill>
                  <a:srgbClr val="000000"/>
                </a:solidFill>
                <a:latin typeface="TimesNewRomanPSMT"/>
              </a:rPr>
              <a:t>Il est possible de visualiser le code d'une page web. Par exemple dans le navigateur Mozilla, allez dans le menu « outils » puis « développement web » puis « Code source de la page » (ou CTRL U).</a:t>
            </a:r>
            <a:br>
              <a:rPr lang="fr-FR" dirty="0">
                <a:solidFill>
                  <a:srgbClr val="000000"/>
                </a:solidFill>
                <a:latin typeface="TimesNewRomanPSMT"/>
              </a:rPr>
            </a:br>
            <a:endParaRPr lang="fr-F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custDataLst>
              <p:tags r:id="rId1"/>
            </p:custDataLst>
          </p:nvPr>
        </p:nvSpPr>
        <p:spPr>
          <a:xfrm>
            <a:off x="0" y="0"/>
            <a:ext cx="9144000" cy="92867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fr-FR" sz="3200" b="1" dirty="0">
                <a:latin typeface="Arial" panose="020B0604020202020204" pitchFamily="34" charset="0"/>
                <a:cs typeface="Arial" panose="020B0604020202020204" pitchFamily="34" charset="0"/>
              </a:rPr>
              <a:t>Une première page en HTML</a:t>
            </a:r>
            <a:endParaRPr lang="fr-FR" sz="3200" b="1" dirty="0" smtClean="0">
              <a:latin typeface="Arial" panose="020B0604020202020204" pitchFamily="34" charset="0"/>
              <a:cs typeface="Arial" panose="020B0604020202020204" pitchFamily="34" charset="0"/>
            </a:endParaRPr>
          </a:p>
        </p:txBody>
      </p:sp>
      <p:sp>
        <p:nvSpPr>
          <p:cNvPr id="3" name="Rectangle 1"/>
          <p:cNvSpPr>
            <a:spLocks noChangeArrowheads="1"/>
          </p:cNvSpPr>
          <p:nvPr/>
        </p:nvSpPr>
        <p:spPr bwMode="auto">
          <a:xfrm>
            <a:off x="323528" y="126876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fr-FR" altLang="fr-FR"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Le document html de base se présente ainsi :</a:t>
            </a:r>
            <a:endParaRPr kumimoji="0" lang="fr-FR" altLang="fr-FR"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br>
              <a:rPr kumimoji="0" lang="fr-FR" altLang="fr-FR"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br>
            <a:r>
              <a:rPr kumimoji="0" lang="fr-FR" altLang="fr-FR"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t>
            </a:r>
            <a:endParaRPr kumimoji="0" lang="fr-FR" altLang="fr-FR" sz="300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pic>
        <p:nvPicPr>
          <p:cNvPr id="6146" name="Picture 2" descr="Structure d'un document HTM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497360"/>
            <a:ext cx="5616624" cy="52440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custDataLst>
              <p:tags r:id="rId1"/>
            </p:custDataLst>
          </p:nvPr>
        </p:nvSpPr>
        <p:spPr>
          <a:xfrm>
            <a:off x="0" y="0"/>
            <a:ext cx="9144000" cy="928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Arial" panose="020B0604020202020204" pitchFamily="34" charset="0"/>
                <a:cs typeface="Arial" panose="020B0604020202020204" pitchFamily="34" charset="0"/>
              </a:rPr>
              <a:t>Introduction</a:t>
            </a:r>
            <a:endParaRPr lang="fr-FR" sz="3200" b="1" dirty="0">
              <a:latin typeface="Arial" panose="020B0604020202020204" pitchFamily="34" charset="0"/>
              <a:cs typeface="Arial" panose="020B0604020202020204" pitchFamily="34" charset="0"/>
            </a:endParaRPr>
          </a:p>
        </p:txBody>
      </p:sp>
      <p:sp>
        <p:nvSpPr>
          <p:cNvPr id="5" name="ZoneTexte 4"/>
          <p:cNvSpPr txBox="1"/>
          <p:nvPr/>
        </p:nvSpPr>
        <p:spPr>
          <a:xfrm>
            <a:off x="464315" y="2060848"/>
            <a:ext cx="8215370" cy="3194721"/>
          </a:xfrm>
          <a:prstGeom prst="rect">
            <a:avLst/>
          </a:prstGeom>
          <a:noFill/>
        </p:spPr>
        <p:txBody>
          <a:bodyPr wrap="square" rtlCol="0">
            <a:spAutoFit/>
          </a:bodyPr>
          <a:lstStyle/>
          <a:p>
            <a:pPr marL="342900" lvl="0" indent="-342900" algn="just" fontAlgn="base">
              <a:spcBef>
                <a:spcPct val="20000"/>
              </a:spcBef>
              <a:spcAft>
                <a:spcPct val="0"/>
              </a:spcAft>
              <a:buClr>
                <a:srgbClr val="3333CC"/>
              </a:buClr>
              <a:buSzPct val="60000"/>
              <a:buFont typeface="Wingdings" panose="05000000000000000000" pitchFamily="2" charset="2"/>
              <a:buChar char="n"/>
            </a:pPr>
            <a:r>
              <a:rPr lang="fr-FR" sz="2400" b="1" dirty="0"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fr-FR" sz="2400" b="1" dirty="0">
                <a:solidFill>
                  <a:srgbClr val="FF0000"/>
                </a:solidFill>
                <a:effectLst>
                  <a:outerShdw blurRad="38100" dist="38100" dir="2700000" algn="tl">
                    <a:srgbClr val="000000">
                      <a:alpha val="43137"/>
                    </a:srgbClr>
                  </a:outerShdw>
                </a:effectLst>
              </a:rPr>
              <a:t>Le </a:t>
            </a:r>
            <a:r>
              <a:rPr lang="fr-FR" sz="2400" b="1" dirty="0" smtClean="0">
                <a:solidFill>
                  <a:srgbClr val="FF0000"/>
                </a:solidFill>
                <a:effectLst>
                  <a:outerShdw blurRad="38100" dist="38100" dir="2700000" algn="tl">
                    <a:srgbClr val="000000">
                      <a:alpha val="43137"/>
                    </a:srgbClr>
                  </a:outerShdw>
                </a:effectLst>
              </a:rPr>
              <a:t>doctype:</a:t>
            </a:r>
            <a:r>
              <a:rPr lang="fr-FR" sz="2400" dirty="0" smtClean="0"/>
              <a:t> </a:t>
            </a:r>
            <a:endParaRPr lang="fr-FR" sz="2400" dirty="0" smtClean="0"/>
          </a:p>
          <a:p>
            <a:pPr lvl="0" algn="just" fontAlgn="base">
              <a:spcBef>
                <a:spcPct val="20000"/>
              </a:spcBef>
              <a:spcAft>
                <a:spcPct val="0"/>
              </a:spcAft>
              <a:buClr>
                <a:srgbClr val="3333CC"/>
              </a:buClr>
              <a:buSzPct val="60000"/>
            </a:pPr>
            <a:r>
              <a:rPr lang="fr-FR" sz="2400" dirty="0" smtClean="0"/>
              <a:t>La </a:t>
            </a:r>
            <a:r>
              <a:rPr lang="fr-FR" sz="2400" dirty="0"/>
              <a:t>toute première ligne s'appelle le doctype. Elle est indispensable car c'est elle qui indique qu'il s'agit bien d'une page web HTML. Ce n'est pas vraiment une balise comme les autres (elle commence par un point d'exclamation), vous pouvez considérer que c'est un peu l'exception qui confirme la règle</a:t>
            </a:r>
            <a:r>
              <a:rPr lang="fr-FR" sz="2400" dirty="0" smtClean="0"/>
              <a:t>.</a:t>
            </a:r>
            <a:endParaRPr lang="fr-FR" sz="2400" dirty="0" smtClean="0"/>
          </a:p>
          <a:p>
            <a:pPr lvl="0" algn="just" fontAlgn="base">
              <a:spcBef>
                <a:spcPct val="20000"/>
              </a:spcBef>
              <a:spcAft>
                <a:spcPct val="0"/>
              </a:spcAft>
              <a:buClr>
                <a:srgbClr val="3333CC"/>
              </a:buClr>
              <a:buSzPct val="60000"/>
            </a:pPr>
            <a:br>
              <a:rPr lang="fr-FR" sz="2400" dirty="0"/>
            </a:br>
            <a:endParaRPr lang="en-US" altLang="en-US" sz="2400" kern="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custDataLst>
              <p:tags r:id="rId1"/>
            </p:custDataLst>
          </p:nvPr>
        </p:nvSpPr>
        <p:spPr>
          <a:xfrm>
            <a:off x="0" y="0"/>
            <a:ext cx="9144000" cy="928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Arial" panose="020B0604020202020204" pitchFamily="34" charset="0"/>
                <a:cs typeface="Arial" panose="020B0604020202020204" pitchFamily="34" charset="0"/>
              </a:rPr>
              <a:t>Introduction</a:t>
            </a:r>
            <a:endParaRPr lang="fr-FR" sz="3200" b="1" dirty="0">
              <a:latin typeface="Arial" panose="020B0604020202020204" pitchFamily="34" charset="0"/>
              <a:cs typeface="Arial" panose="020B0604020202020204" pitchFamily="34" charset="0"/>
            </a:endParaRPr>
          </a:p>
        </p:txBody>
      </p:sp>
      <p:sp>
        <p:nvSpPr>
          <p:cNvPr id="5" name="ZoneTexte 4"/>
          <p:cNvSpPr txBox="1"/>
          <p:nvPr/>
        </p:nvSpPr>
        <p:spPr>
          <a:xfrm>
            <a:off x="435106" y="1772816"/>
            <a:ext cx="8215370" cy="2086725"/>
          </a:xfrm>
          <a:prstGeom prst="rect">
            <a:avLst/>
          </a:prstGeom>
          <a:noFill/>
        </p:spPr>
        <p:txBody>
          <a:bodyPr wrap="square" rtlCol="0">
            <a:spAutoFit/>
          </a:bodyPr>
          <a:lstStyle/>
          <a:p>
            <a:pPr marL="342900" lvl="0" indent="-342900" algn="just" fontAlgn="base">
              <a:spcBef>
                <a:spcPct val="20000"/>
              </a:spcBef>
              <a:spcAft>
                <a:spcPct val="0"/>
              </a:spcAft>
              <a:buClr>
                <a:srgbClr val="3333CC"/>
              </a:buClr>
              <a:buSzPct val="60000"/>
              <a:buFont typeface="Wingdings" panose="05000000000000000000" pitchFamily="2" charset="2"/>
              <a:buChar char="n"/>
            </a:pPr>
            <a:r>
              <a:rPr lang="fr-FR" sz="2400" b="1" dirty="0"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fr-FR" sz="2400" b="1" dirty="0">
                <a:solidFill>
                  <a:srgbClr val="FF0000"/>
                </a:solidFill>
                <a:effectLst>
                  <a:outerShdw blurRad="38100" dist="38100" dir="2700000" algn="tl">
                    <a:srgbClr val="000000">
                      <a:alpha val="43137"/>
                    </a:srgbClr>
                  </a:outerShdw>
                </a:effectLst>
              </a:rPr>
              <a:t>La balise &lt;html&gt;</a:t>
            </a:r>
            <a:endParaRPr lang="fr-FR" sz="2400" b="1" dirty="0">
              <a:solidFill>
                <a:srgbClr val="FF0000"/>
              </a:solidFill>
              <a:effectLst>
                <a:outerShdw blurRad="38100" dist="38100" dir="2700000" algn="tl">
                  <a:srgbClr val="000000">
                    <a:alpha val="43137"/>
                  </a:srgbClr>
                </a:outerShdw>
              </a:effectLst>
            </a:endParaRPr>
          </a:p>
          <a:p>
            <a:pPr lvl="0" fontAlgn="base">
              <a:spcBef>
                <a:spcPct val="20000"/>
              </a:spcBef>
              <a:spcAft>
                <a:spcPct val="0"/>
              </a:spcAft>
              <a:buClr>
                <a:srgbClr val="3333CC"/>
              </a:buClr>
              <a:buSzPct val="60000"/>
            </a:pPr>
            <a:r>
              <a:rPr lang="fr-FR" sz="2400" dirty="0">
                <a:effectLst>
                  <a:outerShdw blurRad="38100" dist="38100" dir="2700000" algn="tl">
                    <a:srgbClr val="000000">
                      <a:alpha val="43137"/>
                    </a:srgbClr>
                  </a:outerShdw>
                </a:effectLst>
              </a:rPr>
              <a:t>C'est la balise principale du code. Elle englobe tout le contenu de la page. La balise fermante &lt;/html&gt; </a:t>
            </a:r>
            <a:r>
              <a:rPr lang="fr-FR" sz="2400" dirty="0" smtClean="0">
                <a:effectLst>
                  <a:outerShdw blurRad="38100" dist="38100" dir="2700000" algn="tl">
                    <a:srgbClr val="000000">
                      <a:alpha val="43137"/>
                    </a:srgbClr>
                  </a:outerShdw>
                </a:effectLst>
              </a:rPr>
              <a:t>se trouve </a:t>
            </a:r>
            <a:r>
              <a:rPr lang="fr-FR" sz="2400" dirty="0">
                <a:effectLst>
                  <a:outerShdw blurRad="38100" dist="38100" dir="2700000" algn="tl">
                    <a:srgbClr val="000000">
                      <a:alpha val="43137"/>
                    </a:srgbClr>
                  </a:outerShdw>
                </a:effectLst>
              </a:rPr>
              <a:t>tout à la fin du code.</a:t>
            </a:r>
            <a:br>
              <a:rPr lang="fr-FR" sz="2400" dirty="0"/>
            </a:br>
            <a:endParaRPr lang="en-US" altLang="en-US" sz="2400"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custDataLst>
              <p:tags r:id="rId1"/>
            </p:custDataLst>
          </p:nvPr>
        </p:nvSpPr>
        <p:spPr>
          <a:xfrm>
            <a:off x="0" y="0"/>
            <a:ext cx="9144000" cy="928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Arial" panose="020B0604020202020204" pitchFamily="34" charset="0"/>
                <a:cs typeface="Arial" panose="020B0604020202020204" pitchFamily="34" charset="0"/>
              </a:rPr>
              <a:t>Introduction</a:t>
            </a:r>
            <a:endParaRPr lang="fr-FR" sz="3200" b="1" dirty="0">
              <a:latin typeface="Arial" panose="020B0604020202020204" pitchFamily="34" charset="0"/>
              <a:cs typeface="Arial" panose="020B0604020202020204" pitchFamily="34" charset="0"/>
            </a:endParaRPr>
          </a:p>
        </p:txBody>
      </p:sp>
      <p:sp>
        <p:nvSpPr>
          <p:cNvPr id="5" name="ZoneTexte 4"/>
          <p:cNvSpPr txBox="1"/>
          <p:nvPr/>
        </p:nvSpPr>
        <p:spPr>
          <a:xfrm>
            <a:off x="463638" y="1700808"/>
            <a:ext cx="8215370" cy="3410164"/>
          </a:xfrm>
          <a:prstGeom prst="rect">
            <a:avLst/>
          </a:prstGeom>
          <a:noFill/>
        </p:spPr>
        <p:txBody>
          <a:bodyPr wrap="square" rtlCol="0">
            <a:spAutoFit/>
          </a:bodyPr>
          <a:lstStyle/>
          <a:p>
            <a:pPr marL="342900" lvl="0" indent="-342900" algn="just" fontAlgn="base">
              <a:spcBef>
                <a:spcPct val="20000"/>
              </a:spcBef>
              <a:spcAft>
                <a:spcPct val="0"/>
              </a:spcAft>
              <a:buClr>
                <a:srgbClr val="3333CC"/>
              </a:buClr>
              <a:buSzPct val="60000"/>
              <a:buFont typeface="Wingdings" panose="05000000000000000000" pitchFamily="2" charset="2"/>
              <a:buChar char="n"/>
            </a:pPr>
            <a:r>
              <a:rPr lang="fr-FR" sz="2200" b="1" dirty="0"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fr-FR" sz="2200" b="1" dirty="0">
                <a:solidFill>
                  <a:srgbClr val="FF0000"/>
                </a:solidFill>
                <a:effectLst>
                  <a:outerShdw blurRad="38100" dist="38100" dir="2700000" algn="tl">
                    <a:srgbClr val="000000">
                      <a:alpha val="43137"/>
                    </a:srgbClr>
                  </a:outerShdw>
                </a:effectLst>
              </a:rPr>
              <a:t>L'en-tête &lt;</a:t>
            </a:r>
            <a:r>
              <a:rPr lang="fr-FR" sz="2200" b="1" dirty="0" err="1">
                <a:solidFill>
                  <a:srgbClr val="FF0000"/>
                </a:solidFill>
                <a:effectLst>
                  <a:outerShdw blurRad="38100" dist="38100" dir="2700000" algn="tl">
                    <a:srgbClr val="000000">
                      <a:alpha val="43137"/>
                    </a:srgbClr>
                  </a:outerShdw>
                </a:effectLst>
              </a:rPr>
              <a:t>head</a:t>
            </a:r>
            <a:r>
              <a:rPr lang="fr-FR" sz="2200" b="1" dirty="0">
                <a:solidFill>
                  <a:srgbClr val="FF0000"/>
                </a:solidFill>
                <a:effectLst>
                  <a:outerShdw blurRad="38100" dist="38100" dir="2700000" algn="tl">
                    <a:srgbClr val="000000">
                      <a:alpha val="43137"/>
                    </a:srgbClr>
                  </a:outerShdw>
                </a:effectLst>
              </a:rPr>
              <a:t>&gt; et le corps &lt;body&gt;</a:t>
            </a:r>
            <a:endParaRPr lang="fr-FR" sz="2200" b="1" dirty="0">
              <a:solidFill>
                <a:srgbClr val="FF0000"/>
              </a:solidFill>
              <a:effectLst>
                <a:outerShdw blurRad="38100" dist="38100" dir="2700000" algn="tl">
                  <a:srgbClr val="000000">
                    <a:alpha val="43137"/>
                  </a:srgbClr>
                </a:outerShdw>
              </a:effectLst>
            </a:endParaRPr>
          </a:p>
          <a:p>
            <a:pPr lvl="0" algn="just" fontAlgn="base">
              <a:spcBef>
                <a:spcPct val="20000"/>
              </a:spcBef>
              <a:spcAft>
                <a:spcPct val="0"/>
              </a:spcAft>
              <a:buClr>
                <a:srgbClr val="3333CC"/>
              </a:buClr>
              <a:buSzPct val="60000"/>
            </a:pPr>
            <a:r>
              <a:rPr lang="fr-FR" sz="2200" dirty="0">
                <a:effectLst>
                  <a:outerShdw blurRad="38100" dist="38100" dir="2700000" algn="tl">
                    <a:srgbClr val="000000">
                      <a:alpha val="43137"/>
                    </a:srgbClr>
                  </a:outerShdw>
                </a:effectLst>
              </a:rPr>
              <a:t>Une page web est constituée de 2 parties :</a:t>
            </a:r>
            <a:endParaRPr lang="fr-FR" sz="2200" dirty="0">
              <a:effectLst>
                <a:outerShdw blurRad="38100" dist="38100" dir="2700000" algn="tl">
                  <a:srgbClr val="000000">
                    <a:alpha val="43137"/>
                  </a:srgbClr>
                </a:outerShdw>
              </a:effectLst>
            </a:endParaRPr>
          </a:p>
          <a:p>
            <a:pPr marL="342900" lvl="0" indent="-342900" algn="just" fontAlgn="base">
              <a:spcBef>
                <a:spcPct val="20000"/>
              </a:spcBef>
              <a:spcAft>
                <a:spcPct val="0"/>
              </a:spcAft>
              <a:buClr>
                <a:srgbClr val="3333CC"/>
              </a:buClr>
              <a:buSzPct val="60000"/>
              <a:buFont typeface="Wingdings" panose="05000000000000000000" pitchFamily="2" charset="2"/>
              <a:buChar char="Ø"/>
            </a:pPr>
            <a:r>
              <a:rPr lang="fr-FR" sz="2200" b="1" dirty="0" smtClean="0">
                <a:solidFill>
                  <a:srgbClr val="0070C0"/>
                </a:solidFill>
                <a:effectLst>
                  <a:outerShdw blurRad="38100" dist="38100" dir="2700000" algn="tl">
                    <a:srgbClr val="000000">
                      <a:alpha val="43137"/>
                    </a:srgbClr>
                  </a:outerShdw>
                </a:effectLst>
              </a:rPr>
              <a:t>L'en-tête </a:t>
            </a:r>
            <a:r>
              <a:rPr lang="fr-FR" sz="2200" b="1" dirty="0">
                <a:solidFill>
                  <a:srgbClr val="0070C0"/>
                </a:solidFill>
                <a:effectLst>
                  <a:outerShdw blurRad="38100" dist="38100" dir="2700000" algn="tl">
                    <a:srgbClr val="000000">
                      <a:alpha val="43137"/>
                    </a:srgbClr>
                  </a:outerShdw>
                </a:effectLst>
              </a:rPr>
              <a:t>&lt;</a:t>
            </a:r>
            <a:r>
              <a:rPr lang="fr-FR" sz="2200" b="1" dirty="0" err="1">
                <a:solidFill>
                  <a:srgbClr val="0070C0"/>
                </a:solidFill>
                <a:effectLst>
                  <a:outerShdw blurRad="38100" dist="38100" dir="2700000" algn="tl">
                    <a:srgbClr val="000000">
                      <a:alpha val="43137"/>
                    </a:srgbClr>
                  </a:outerShdw>
                </a:effectLst>
              </a:rPr>
              <a:t>head</a:t>
            </a:r>
            <a:r>
              <a:rPr lang="fr-FR" sz="2200" b="1" dirty="0">
                <a:solidFill>
                  <a:srgbClr val="0070C0"/>
                </a:solidFill>
                <a:effectLst>
                  <a:outerShdw blurRad="38100" dist="38100" dir="2700000" algn="tl">
                    <a:srgbClr val="000000">
                      <a:alpha val="43137"/>
                    </a:srgbClr>
                  </a:outerShdw>
                </a:effectLst>
              </a:rPr>
              <a:t>&gt; : </a:t>
            </a:r>
            <a:r>
              <a:rPr lang="fr-FR" sz="2200" dirty="0">
                <a:effectLst>
                  <a:outerShdw blurRad="38100" dist="38100" dir="2700000" algn="tl">
                    <a:srgbClr val="000000">
                      <a:alpha val="43137"/>
                    </a:srgbClr>
                  </a:outerShdw>
                </a:effectLst>
              </a:rPr>
              <a:t>cette section donne quelques informations générales sur la page, comme son titre,</a:t>
            </a:r>
            <a:endParaRPr lang="fr-FR" sz="2200" dirty="0">
              <a:effectLst>
                <a:outerShdw blurRad="38100" dist="38100" dir="2700000" algn="tl">
                  <a:srgbClr val="000000">
                    <a:alpha val="43137"/>
                  </a:srgbClr>
                </a:outerShdw>
              </a:effectLst>
            </a:endParaRPr>
          </a:p>
          <a:p>
            <a:pPr lvl="0" algn="just" fontAlgn="base">
              <a:spcBef>
                <a:spcPct val="20000"/>
              </a:spcBef>
              <a:spcAft>
                <a:spcPct val="0"/>
              </a:spcAft>
              <a:buClr>
                <a:srgbClr val="3333CC"/>
              </a:buClr>
              <a:buSzPct val="60000"/>
            </a:pPr>
            <a:r>
              <a:rPr lang="fr-FR" sz="2200" dirty="0">
                <a:effectLst>
                  <a:outerShdw blurRad="38100" dist="38100" dir="2700000" algn="tl">
                    <a:srgbClr val="000000">
                      <a:alpha val="43137"/>
                    </a:srgbClr>
                  </a:outerShdw>
                </a:effectLst>
              </a:rPr>
              <a:t>l'encodage (pour la gestion des caractères spéciaux), etc. Cette section est généralement assez courte.</a:t>
            </a:r>
            <a:endParaRPr lang="fr-FR" sz="2200" dirty="0">
              <a:effectLst>
                <a:outerShdw blurRad="38100" dist="38100" dir="2700000" algn="tl">
                  <a:srgbClr val="000000">
                    <a:alpha val="43137"/>
                  </a:srgbClr>
                </a:outerShdw>
              </a:effectLst>
            </a:endParaRPr>
          </a:p>
          <a:p>
            <a:pPr marL="342900" lvl="0" indent="-342900" algn="just" fontAlgn="base">
              <a:spcBef>
                <a:spcPct val="20000"/>
              </a:spcBef>
              <a:spcAft>
                <a:spcPct val="0"/>
              </a:spcAft>
              <a:buClr>
                <a:srgbClr val="3333CC"/>
              </a:buClr>
              <a:buSzPct val="60000"/>
              <a:buFont typeface="Wingdings" panose="05000000000000000000" pitchFamily="2" charset="2"/>
              <a:buChar char="n"/>
            </a:pPr>
            <a:r>
              <a:rPr lang="fr-FR" sz="2200" dirty="0">
                <a:effectLst>
                  <a:outerShdw blurRad="38100" dist="38100" dir="2700000" algn="tl">
                    <a:srgbClr val="000000">
                      <a:alpha val="43137"/>
                    </a:srgbClr>
                  </a:outerShdw>
                </a:effectLst>
              </a:rPr>
              <a:t>Les informations que l'en-tête contient ne sont pas affichées sur la page, ce sont simplement </a:t>
            </a:r>
            <a:r>
              <a:rPr lang="fr-FR" sz="2200" dirty="0" smtClean="0">
                <a:effectLst>
                  <a:outerShdw blurRad="38100" dist="38100" dir="2700000" algn="tl">
                    <a:srgbClr val="000000">
                      <a:alpha val="43137"/>
                    </a:srgbClr>
                  </a:outerShdw>
                </a:effectLst>
              </a:rPr>
              <a:t>des informations </a:t>
            </a:r>
            <a:r>
              <a:rPr lang="fr-FR" sz="2200" dirty="0">
                <a:effectLst>
                  <a:outerShdw blurRad="38100" dist="38100" dir="2700000" algn="tl">
                    <a:srgbClr val="000000">
                      <a:alpha val="43137"/>
                    </a:srgbClr>
                  </a:outerShdw>
                </a:effectLst>
              </a:rPr>
              <a:t>générales à destination de l'ordinateur. Elles sont cependant très importantes </a:t>
            </a:r>
            <a:r>
              <a:rPr lang="fr-FR" sz="2200" dirty="0" smtClean="0">
                <a:effectLst>
                  <a:outerShdw blurRad="38100" dist="38100" dir="2700000" algn="tl">
                    <a:srgbClr val="000000">
                      <a:alpha val="43137"/>
                    </a:srgbClr>
                  </a:outerShdw>
                </a:effectLst>
              </a:rPr>
              <a:t>!</a:t>
            </a:r>
            <a:endParaRPr lang="fr-FR" sz="2200" dirty="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custDataLst>
              <p:tags r:id="rId1"/>
            </p:custDataLst>
          </p:nvPr>
        </p:nvSpPr>
        <p:spPr>
          <a:xfrm>
            <a:off x="0" y="0"/>
            <a:ext cx="9144000" cy="928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Arial" panose="020B0604020202020204" pitchFamily="34" charset="0"/>
                <a:cs typeface="Arial" panose="020B0604020202020204" pitchFamily="34" charset="0"/>
              </a:rPr>
              <a:t>Introduction</a:t>
            </a:r>
            <a:endParaRPr lang="fr-FR" sz="3200" b="1" dirty="0">
              <a:latin typeface="Arial" panose="020B0604020202020204" pitchFamily="34" charset="0"/>
              <a:cs typeface="Arial" panose="020B0604020202020204" pitchFamily="34" charset="0"/>
            </a:endParaRPr>
          </a:p>
        </p:txBody>
      </p:sp>
      <p:sp>
        <p:nvSpPr>
          <p:cNvPr id="5" name="ZoneTexte 4"/>
          <p:cNvSpPr txBox="1"/>
          <p:nvPr/>
        </p:nvSpPr>
        <p:spPr>
          <a:xfrm>
            <a:off x="464315" y="2276872"/>
            <a:ext cx="8215370" cy="1569660"/>
          </a:xfrm>
          <a:prstGeom prst="rect">
            <a:avLst/>
          </a:prstGeom>
          <a:noFill/>
        </p:spPr>
        <p:txBody>
          <a:bodyPr wrap="square" rtlCol="0">
            <a:spAutoFit/>
          </a:bodyPr>
          <a:lstStyle/>
          <a:p>
            <a:pPr marL="342900" lvl="0" indent="-342900" algn="just" fontAlgn="base">
              <a:spcBef>
                <a:spcPct val="20000"/>
              </a:spcBef>
              <a:spcAft>
                <a:spcPct val="0"/>
              </a:spcAft>
              <a:buClr>
                <a:srgbClr val="3333CC"/>
              </a:buClr>
              <a:buSzPct val="60000"/>
              <a:buFont typeface="Wingdings" panose="05000000000000000000" pitchFamily="2" charset="2"/>
              <a:buChar char="Ø"/>
            </a:pPr>
            <a:r>
              <a:rPr lang="fr-FR" sz="2400" b="1" dirty="0"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fr-FR" sz="2400" dirty="0">
                <a:solidFill>
                  <a:srgbClr val="FF0000"/>
                </a:solidFill>
                <a:effectLst>
                  <a:outerShdw blurRad="38100" dist="38100" dir="2700000" algn="tl">
                    <a:srgbClr val="000000">
                      <a:alpha val="43137"/>
                    </a:srgbClr>
                  </a:outerShdw>
                </a:effectLst>
              </a:rPr>
              <a:t>Le corps &lt;body&gt; : </a:t>
            </a:r>
            <a:r>
              <a:rPr lang="fr-FR" sz="2400" dirty="0">
                <a:effectLst>
                  <a:outerShdw blurRad="38100" dist="38100" dir="2700000" algn="tl">
                    <a:srgbClr val="000000">
                      <a:alpha val="43137"/>
                    </a:srgbClr>
                  </a:outerShdw>
                </a:effectLst>
              </a:rPr>
              <a:t>c'est là que se trouve la partie principale de la page. Tout ce que nous écrirons </a:t>
            </a:r>
            <a:r>
              <a:rPr lang="fr-FR" sz="2400" dirty="0" smtClean="0">
                <a:effectLst>
                  <a:outerShdw blurRad="38100" dist="38100" dir="2700000" algn="tl">
                    <a:srgbClr val="000000">
                      <a:alpha val="43137"/>
                    </a:srgbClr>
                  </a:outerShdw>
                </a:effectLst>
              </a:rPr>
              <a:t>ici sera </a:t>
            </a:r>
            <a:r>
              <a:rPr lang="fr-FR" sz="2400" dirty="0">
                <a:effectLst>
                  <a:outerShdw blurRad="38100" dist="38100" dir="2700000" algn="tl">
                    <a:srgbClr val="000000">
                      <a:alpha val="43137"/>
                    </a:srgbClr>
                  </a:outerShdw>
                </a:effectLst>
              </a:rPr>
              <a:t>affiché à l'écran. C'est à l'intérieur du corps que nous écrirons la majeure partie de notre code</a:t>
            </a:r>
            <a:r>
              <a:rPr lang="fr-FR" sz="2400" dirty="0" smtClean="0">
                <a:effectLst>
                  <a:outerShdw blurRad="38100" dist="38100" dir="2700000" algn="tl">
                    <a:srgbClr val="000000">
                      <a:alpha val="43137"/>
                    </a:srgbClr>
                  </a:outerShdw>
                </a:effectLst>
              </a:rPr>
              <a:t>.</a:t>
            </a:r>
            <a:endParaRPr lang="en-US" altLang="en-US" sz="2400"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custDataLst>
              <p:tags r:id="rId1"/>
            </p:custDataLst>
          </p:nvPr>
        </p:nvSpPr>
        <p:spPr>
          <a:xfrm>
            <a:off x="0" y="0"/>
            <a:ext cx="9144000" cy="928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smtClean="0">
                <a:latin typeface="Arial" panose="020B0604020202020204" pitchFamily="34" charset="0"/>
                <a:cs typeface="Arial" panose="020B0604020202020204" pitchFamily="34" charset="0"/>
              </a:rPr>
              <a:t>Introduction</a:t>
            </a:r>
            <a:endParaRPr lang="fr-FR" sz="3200" b="1" dirty="0">
              <a:latin typeface="Arial" panose="020B0604020202020204" pitchFamily="34" charset="0"/>
              <a:cs typeface="Arial" panose="020B0604020202020204" pitchFamily="34" charset="0"/>
            </a:endParaRPr>
          </a:p>
        </p:txBody>
      </p:sp>
      <p:sp>
        <p:nvSpPr>
          <p:cNvPr id="5" name="ZoneTexte 4"/>
          <p:cNvSpPr txBox="1"/>
          <p:nvPr/>
        </p:nvSpPr>
        <p:spPr>
          <a:xfrm>
            <a:off x="464315" y="2276872"/>
            <a:ext cx="8215370" cy="1569660"/>
          </a:xfrm>
          <a:prstGeom prst="rect">
            <a:avLst/>
          </a:prstGeom>
          <a:noFill/>
        </p:spPr>
        <p:txBody>
          <a:bodyPr wrap="square" rtlCol="0">
            <a:spAutoFit/>
          </a:bodyPr>
          <a:lstStyle/>
          <a:p>
            <a:pPr marL="342900" lvl="0" indent="-342900" algn="just" fontAlgn="base">
              <a:spcBef>
                <a:spcPct val="20000"/>
              </a:spcBef>
              <a:spcAft>
                <a:spcPct val="0"/>
              </a:spcAft>
              <a:buClr>
                <a:srgbClr val="3333CC"/>
              </a:buClr>
              <a:buSzPct val="60000"/>
              <a:buFont typeface="Wingdings" panose="05000000000000000000" pitchFamily="2" charset="2"/>
              <a:buChar char="Ø"/>
            </a:pPr>
            <a:r>
              <a:rPr lang="fr-FR" sz="2400" b="1" dirty="0"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fr-FR" sz="2400" dirty="0">
                <a:solidFill>
                  <a:srgbClr val="FF0000"/>
                </a:solidFill>
                <a:effectLst>
                  <a:outerShdw blurRad="38100" dist="38100" dir="2700000" algn="tl">
                    <a:srgbClr val="000000">
                      <a:alpha val="43137"/>
                    </a:srgbClr>
                  </a:outerShdw>
                </a:effectLst>
              </a:rPr>
              <a:t>Le corps &lt;body&gt; : </a:t>
            </a:r>
            <a:r>
              <a:rPr lang="fr-FR" sz="2400" dirty="0">
                <a:effectLst>
                  <a:outerShdw blurRad="38100" dist="38100" dir="2700000" algn="tl">
                    <a:srgbClr val="000000">
                      <a:alpha val="43137"/>
                    </a:srgbClr>
                  </a:outerShdw>
                </a:effectLst>
              </a:rPr>
              <a:t>c'est là que se trouve la partie principale de la page. Tout ce que nous écrirons </a:t>
            </a:r>
            <a:r>
              <a:rPr lang="fr-FR" sz="2400" dirty="0" smtClean="0">
                <a:effectLst>
                  <a:outerShdw blurRad="38100" dist="38100" dir="2700000" algn="tl">
                    <a:srgbClr val="000000">
                      <a:alpha val="43137"/>
                    </a:srgbClr>
                  </a:outerShdw>
                </a:effectLst>
              </a:rPr>
              <a:t>ici sera </a:t>
            </a:r>
            <a:r>
              <a:rPr lang="fr-FR" sz="2400" dirty="0">
                <a:effectLst>
                  <a:outerShdw blurRad="38100" dist="38100" dir="2700000" algn="tl">
                    <a:srgbClr val="000000">
                      <a:alpha val="43137"/>
                    </a:srgbClr>
                  </a:outerShdw>
                </a:effectLst>
              </a:rPr>
              <a:t>affiché à l'écran. C'est à l'intérieur du corps que nous écrirons la majeure partie de notre code</a:t>
            </a:r>
            <a:r>
              <a:rPr lang="fr-FR" sz="2400" dirty="0" smtClean="0">
                <a:effectLst>
                  <a:outerShdw blurRad="38100" dist="38100" dir="2700000" algn="tl">
                    <a:srgbClr val="000000">
                      <a:alpha val="43137"/>
                    </a:srgbClr>
                  </a:outerShdw>
                </a:effectLst>
              </a:rPr>
              <a:t>.</a:t>
            </a:r>
            <a:endParaRPr lang="en-US" altLang="en-US" sz="2400"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custDataLst>
              <p:tags r:id="rId1"/>
            </p:custDataLst>
          </p:nvPr>
        </p:nvSpPr>
        <p:spPr>
          <a:xfrm>
            <a:off x="0" y="0"/>
            <a:ext cx="9144000" cy="92867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fr-FR" sz="3200" b="1" dirty="0">
                <a:latin typeface="Arial" panose="020B0604020202020204" pitchFamily="34" charset="0"/>
                <a:cs typeface="Arial" panose="020B0604020202020204" pitchFamily="34" charset="0"/>
              </a:rPr>
              <a:t>Une première page en HTML</a:t>
            </a:r>
            <a:endParaRPr lang="fr-FR" sz="3200" b="1" dirty="0" smtClean="0">
              <a:latin typeface="Arial" panose="020B0604020202020204" pitchFamily="34" charset="0"/>
              <a:cs typeface="Arial" panose="020B0604020202020204" pitchFamily="34" charset="0"/>
            </a:endParaRPr>
          </a:p>
        </p:txBody>
      </p:sp>
      <p:sp>
        <p:nvSpPr>
          <p:cNvPr id="5" name="Rectangle 4"/>
          <p:cNvSpPr>
            <a:spLocks noChangeArrowheads="1"/>
          </p:cNvSpPr>
          <p:nvPr/>
        </p:nvSpPr>
        <p:spPr bwMode="auto">
          <a:xfrm>
            <a:off x="1437968" y="1412776"/>
            <a:ext cx="626806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defTabSz="914400" rtl="0" eaLnBrk="1" fontAlgn="base" latinLnBrk="0" hangingPunct="1">
              <a:lnSpc>
                <a:spcPct val="100000"/>
              </a:lnSpc>
              <a:spcBef>
                <a:spcPct val="0"/>
              </a:spcBef>
              <a:spcAft>
                <a:spcPct val="0"/>
              </a:spcAft>
              <a:buClrTx/>
              <a:buSzTx/>
              <a:buFontTx/>
              <a:buNone/>
            </a:pPr>
            <a:endPar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Arial Unicode MS" pitchFamily="34" charset="-128"/>
              <a:cs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AutoNum type="arabicPeriod"/>
            </a:pPr>
            <a:r>
              <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&lt;!DOCTYPE html&gt;</a:t>
            </a:r>
            <a:endPar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Arial Unicode MS" pitchFamily="34" charset="-128"/>
              <a:cs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AutoNum type="arabicPeriod" startAt="2"/>
            </a:pPr>
            <a:r>
              <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&lt;html&gt;</a:t>
            </a:r>
            <a:endPar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Arial Unicode MS" pitchFamily="34" charset="-128"/>
              <a:cs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AutoNum type="arabicPeriod" startAt="3"/>
            </a:pPr>
            <a:r>
              <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a:t>
            </a:r>
            <a:r>
              <a:rPr kumimoji="0" lang="fr-FR" altLang="fr-FR" sz="2400" i="0" u="none" strike="noStrike" cap="none" normalizeH="0" baseline="0" dirty="0" err="1" smtClean="0">
                <a:ln>
                  <a:noFill/>
                </a:ln>
                <a:solidFill>
                  <a:schemeClr val="tx1"/>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head</a:t>
            </a:r>
            <a:r>
              <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&gt;</a:t>
            </a:r>
            <a:endPar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Arial Unicode MS" pitchFamily="34" charset="-128"/>
              <a:cs typeface="Arial" panose="020B0604020202020204" pitchFamily="34" charset="0"/>
            </a:endParaRPr>
          </a:p>
          <a:p>
            <a:pPr eaLnBrk="0" fontAlgn="base" hangingPunct="0">
              <a:spcBef>
                <a:spcPct val="0"/>
              </a:spcBef>
              <a:spcAft>
                <a:spcPct val="0"/>
              </a:spcAft>
              <a:buFontTx/>
              <a:buAutoNum type="arabicPeriod" startAt="5"/>
            </a:pPr>
            <a:r>
              <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a:t>
            </a:r>
            <a:r>
              <a:rPr kumimoji="0" lang="fr-FR" altLang="fr-FR" sz="2400" i="0" u="none" strike="noStrike" cap="none" normalizeH="0" baseline="0" dirty="0" err="1" smtClean="0">
                <a:ln>
                  <a:noFill/>
                </a:ln>
                <a:solidFill>
                  <a:schemeClr val="tx1"/>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meta</a:t>
            </a:r>
            <a:r>
              <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kumimoji="0" lang="fr-FR" altLang="fr-FR" sz="2400" i="0" u="none" strike="noStrike" cap="none" normalizeH="0" baseline="0" dirty="0" err="1" smtClean="0">
                <a:ln>
                  <a:noFill/>
                </a:ln>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charset</a:t>
            </a:r>
            <a:r>
              <a:rPr kumimoji="0" lang="fr-FR" altLang="fr-FR" sz="2400" i="0" u="none" strike="noStrike" cap="none" normalizeH="0" baseline="0" dirty="0" smtClean="0">
                <a:ln>
                  <a:noFill/>
                </a:ln>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fr-FR" altLang="fr-FR" sz="24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 </a:t>
            </a:r>
            <a:r>
              <a:rPr kumimoji="0" lang="fr-FR" altLang="fr-FR" sz="2400" i="0" u="none" strike="noStrike" cap="none" normalizeH="0" baseline="0" dirty="0" smtClean="0">
                <a:ln>
                  <a:noFill/>
                </a:ln>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UTF-8"</a:t>
            </a:r>
            <a:r>
              <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/&gt;</a:t>
            </a:r>
            <a:endPar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eaLnBrk="0" fontAlgn="base" hangingPunct="0">
              <a:spcBef>
                <a:spcPct val="0"/>
              </a:spcBef>
              <a:spcAft>
                <a:spcPct val="0"/>
              </a:spcAft>
              <a:buFontTx/>
              <a:buAutoNum type="arabicPeriod" startAt="5"/>
            </a:pPr>
            <a:r>
              <a:rPr lang="fr-FR" altLang="fr-FR" sz="2400" dirty="0" smtClean="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a:t>
            </a:r>
            <a:r>
              <a:rPr lang="fr-FR" altLang="fr-FR" sz="2400"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title</a:t>
            </a:r>
            <a:r>
              <a:rPr lang="fr-FR" altLang="fr-FR" sz="24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&gt;Titre de la page&lt;/</a:t>
            </a:r>
            <a:r>
              <a:rPr lang="fr-FR" altLang="fr-FR" sz="2400"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title</a:t>
            </a:r>
            <a:r>
              <a:rPr lang="fr-FR" altLang="fr-FR" sz="2400" dirty="0" smtClean="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&gt;</a:t>
            </a:r>
            <a:endPar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Arial Unicode MS" pitchFamily="34" charset="-128"/>
              <a:cs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pPr>
            <a:r>
              <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7.&lt;/</a:t>
            </a:r>
            <a:r>
              <a:rPr kumimoji="0" lang="fr-FR" altLang="fr-FR" sz="2400" i="0" u="none" strike="noStrike" cap="none" normalizeH="0" baseline="0" dirty="0" err="1" smtClean="0">
                <a:ln>
                  <a:noFill/>
                </a:ln>
                <a:solidFill>
                  <a:schemeClr val="tx1"/>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head</a:t>
            </a:r>
            <a:r>
              <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&gt;</a:t>
            </a:r>
            <a:endPar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Arial Unicode MS" pitchFamily="34" charset="-128"/>
              <a:cs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pPr>
            <a:r>
              <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8.&lt;body&gt;</a:t>
            </a:r>
            <a:endPar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Arial Unicode MS" pitchFamily="34" charset="-128"/>
              <a:cs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AutoNum type="arabicPeriod" startAt="9"/>
            </a:pPr>
            <a:r>
              <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&lt;/body&gt;</a:t>
            </a:r>
            <a:endPar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Arial Unicode MS" pitchFamily="34" charset="-128"/>
              <a:cs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AutoNum type="arabicPeriod" startAt="10"/>
            </a:pPr>
            <a:r>
              <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&lt;/html&gt;</a:t>
            </a:r>
            <a:endParaRPr kumimoji="0" lang="fr-FR" altLang="fr-FR" sz="2400" i="0" u="none" strike="noStrike" cap="none" normalizeH="0" baseline="0" dirty="0" smtClean="0">
              <a:ln>
                <a:noFill/>
              </a:ln>
              <a:solidFill>
                <a:schemeClr val="tx1"/>
              </a:solidFill>
              <a:effectLst>
                <a:outerShdw blurRad="38100" dist="38100" dir="2700000" algn="tl">
                  <a:srgbClr val="000000">
                    <a:alpha val="43137"/>
                  </a:srgbClr>
                </a:outerShdw>
              </a:effectLst>
              <a:latin typeface="Arial Unicode MS" pitchFamily="34" charset="-128"/>
              <a:cs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pPr>
            <a:endParaRPr kumimoji="0" lang="fr-FR" altLang="fr-FR" sz="4800" i="0" u="none" strike="noStrike" cap="none" normalizeH="0" baseline="0" dirty="0" smtClean="0">
              <a:ln>
                <a:noFill/>
              </a:ln>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custDataLst>
              <p:tags r:id="rId1"/>
            </p:custDataLst>
          </p:nvPr>
        </p:nvSpPr>
        <p:spPr>
          <a:xfrm>
            <a:off x="0" y="0"/>
            <a:ext cx="9144000" cy="92867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fr-FR" sz="3200" b="1" dirty="0">
                <a:latin typeface="Arial" panose="020B0604020202020204" pitchFamily="34" charset="0"/>
                <a:cs typeface="Arial" panose="020B0604020202020204" pitchFamily="34" charset="0"/>
              </a:rPr>
              <a:t>Une première page en HTML</a:t>
            </a:r>
            <a:endParaRPr lang="fr-FR" sz="3200" b="1" dirty="0" smtClean="0">
              <a:latin typeface="Arial" panose="020B0604020202020204" pitchFamily="34" charset="0"/>
              <a:cs typeface="Arial" panose="020B0604020202020204" pitchFamily="34" charset="0"/>
            </a:endParaRPr>
          </a:p>
        </p:txBody>
      </p:sp>
      <p:sp>
        <p:nvSpPr>
          <p:cNvPr id="3" name="Rectangle 2"/>
          <p:cNvSpPr/>
          <p:nvPr/>
        </p:nvSpPr>
        <p:spPr>
          <a:xfrm>
            <a:off x="467544" y="1166842"/>
            <a:ext cx="7992887" cy="4619854"/>
          </a:xfrm>
          <a:prstGeom prst="rect">
            <a:avLst/>
          </a:prstGeom>
        </p:spPr>
        <p:txBody>
          <a:bodyPr wrap="square">
            <a:spAutoFit/>
          </a:bodyPr>
          <a:lstStyle/>
          <a:p>
            <a:pPr>
              <a:lnSpc>
                <a:spcPct val="150000"/>
              </a:lnSpc>
            </a:pPr>
            <a:r>
              <a:rPr lang="fr-FR" b="1" dirty="0">
                <a:solidFill>
                  <a:srgbClr val="FF0000"/>
                </a:solidFill>
                <a:effectLst>
                  <a:outerShdw blurRad="38100" dist="38100" dir="2700000" algn="tl">
                    <a:srgbClr val="000000">
                      <a:alpha val="43137"/>
                    </a:srgbClr>
                  </a:outerShdw>
                </a:effectLst>
              </a:rPr>
              <a:t>Créer des paragraphes</a:t>
            </a:r>
            <a:br>
              <a:rPr lang="fr-FR" dirty="0">
                <a:solidFill>
                  <a:srgbClr val="FF0000"/>
                </a:solidFill>
              </a:rPr>
            </a:br>
            <a:r>
              <a:rPr lang="fr-FR" dirty="0">
                <a:latin typeface="Times New Roman" panose="02020603050405020304" pitchFamily="18" charset="0"/>
                <a:cs typeface="Times New Roman" panose="02020603050405020304" pitchFamily="18" charset="0"/>
              </a:rPr>
              <a:t>La plupart du temps, lorsqu'on écrit du texte dans une page web, on le fait à l'intérieur de paragraphes. Le</a:t>
            </a:r>
            <a:br>
              <a:rPr lang="fr-FR" dirty="0">
                <a:latin typeface="Times New Roman" panose="02020603050405020304" pitchFamily="18" charset="0"/>
                <a:cs typeface="Times New Roman" panose="02020603050405020304" pitchFamily="18" charset="0"/>
              </a:rPr>
            </a:br>
            <a:r>
              <a:rPr lang="fr-FR" dirty="0">
                <a:latin typeface="Times New Roman" panose="02020603050405020304" pitchFamily="18" charset="0"/>
                <a:cs typeface="Times New Roman" panose="02020603050405020304" pitchFamily="18" charset="0"/>
              </a:rPr>
              <a:t>langage HTML propose justement la balise &lt;p&gt; pour délimiter les paragraphes</a:t>
            </a:r>
            <a:r>
              <a:rPr lang="fr-FR" dirty="0" smtClean="0">
                <a:latin typeface="Times New Roman" panose="02020603050405020304" pitchFamily="18" charset="0"/>
                <a:cs typeface="Times New Roman" panose="02020603050405020304" pitchFamily="18" charset="0"/>
              </a:rPr>
              <a:t>.</a:t>
            </a:r>
            <a:endParaRPr lang="fr-FR" dirty="0" smtClean="0">
              <a:latin typeface="Times New Roman" panose="02020603050405020304" pitchFamily="18" charset="0"/>
              <a:cs typeface="Times New Roman" panose="02020603050405020304" pitchFamily="18" charset="0"/>
            </a:endParaRPr>
          </a:p>
          <a:p>
            <a:pPr>
              <a:lnSpc>
                <a:spcPct val="150000"/>
              </a:lnSpc>
            </a:pPr>
            <a:br>
              <a:rPr lang="fr-FR" dirty="0">
                <a:latin typeface="Times New Roman" panose="02020603050405020304" pitchFamily="18" charset="0"/>
                <a:cs typeface="Times New Roman" panose="02020603050405020304" pitchFamily="18" charset="0"/>
              </a:rPr>
            </a:br>
            <a:r>
              <a:rPr lang="fr-FR" dirty="0">
                <a:latin typeface="Times New Roman" panose="02020603050405020304" pitchFamily="18" charset="0"/>
                <a:cs typeface="Times New Roman" panose="02020603050405020304" pitchFamily="18" charset="0"/>
              </a:rPr>
              <a:t>Exemple : &lt;p&gt;Bienvenue sur mon site web&lt;/p</a:t>
            </a:r>
            <a:r>
              <a:rPr lang="fr-FR" dirty="0" smtClean="0">
                <a:latin typeface="Times New Roman" panose="02020603050405020304" pitchFamily="18" charset="0"/>
                <a:cs typeface="Times New Roman" panose="02020603050405020304" pitchFamily="18" charset="0"/>
              </a:rPr>
              <a:t>&gt;</a:t>
            </a:r>
            <a:endParaRPr lang="fr-FR" dirty="0" smtClean="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q"/>
            </a:pPr>
            <a:r>
              <a:rPr lang="fr-FR" dirty="0" smtClean="0">
                <a:latin typeface="Times New Roman" panose="02020603050405020304" pitchFamily="18" charset="0"/>
                <a:cs typeface="Times New Roman" panose="02020603050405020304" pitchFamily="18" charset="0"/>
              </a:rPr>
              <a:t>&lt;</a:t>
            </a:r>
            <a:r>
              <a:rPr lang="fr-FR" dirty="0">
                <a:latin typeface="Times New Roman" panose="02020603050405020304" pitchFamily="18" charset="0"/>
                <a:cs typeface="Times New Roman" panose="02020603050405020304" pitchFamily="18" charset="0"/>
              </a:rPr>
              <a:t>p&gt; signifie </a:t>
            </a:r>
            <a:r>
              <a:rPr lang="fr-FR" dirty="0" smtClean="0">
                <a:latin typeface="Times New Roman" panose="02020603050405020304" pitchFamily="18" charset="0"/>
                <a:cs typeface="Times New Roman" panose="02020603050405020304" pitchFamily="18" charset="0"/>
              </a:rPr>
              <a:t>« Début </a:t>
            </a:r>
            <a:r>
              <a:rPr lang="fr-FR" dirty="0">
                <a:latin typeface="Times New Roman" panose="02020603050405020304" pitchFamily="18" charset="0"/>
                <a:cs typeface="Times New Roman" panose="02020603050405020304" pitchFamily="18" charset="0"/>
              </a:rPr>
              <a:t>du </a:t>
            </a:r>
            <a:r>
              <a:rPr lang="fr-FR" dirty="0" smtClean="0">
                <a:latin typeface="Times New Roman" panose="02020603050405020304" pitchFamily="18" charset="0"/>
                <a:cs typeface="Times New Roman" panose="02020603050405020304" pitchFamily="18" charset="0"/>
              </a:rPr>
              <a:t>paragraphe » </a:t>
            </a:r>
            <a:endParaRPr lang="fr-FR"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q"/>
            </a:pPr>
            <a:r>
              <a:rPr lang="fr-FR" dirty="0" smtClean="0">
                <a:latin typeface="Times New Roman" panose="02020603050405020304" pitchFamily="18" charset="0"/>
                <a:cs typeface="Times New Roman" panose="02020603050405020304" pitchFamily="18" charset="0"/>
              </a:rPr>
              <a:t>&lt;/</a:t>
            </a:r>
            <a:r>
              <a:rPr lang="fr-FR" dirty="0">
                <a:latin typeface="Times New Roman" panose="02020603050405020304" pitchFamily="18" charset="0"/>
                <a:cs typeface="Times New Roman" panose="02020603050405020304" pitchFamily="18" charset="0"/>
              </a:rPr>
              <a:t>p&gt; signifie </a:t>
            </a:r>
            <a:r>
              <a:rPr lang="fr-FR" dirty="0" smtClean="0">
                <a:latin typeface="Times New Roman" panose="02020603050405020304" pitchFamily="18" charset="0"/>
                <a:cs typeface="Times New Roman" panose="02020603050405020304" pitchFamily="18" charset="0"/>
              </a:rPr>
              <a:t>« Fin </a:t>
            </a:r>
            <a:r>
              <a:rPr lang="fr-FR" dirty="0">
                <a:latin typeface="Times New Roman" panose="02020603050405020304" pitchFamily="18" charset="0"/>
                <a:cs typeface="Times New Roman" panose="02020603050405020304" pitchFamily="18" charset="0"/>
              </a:rPr>
              <a:t>du </a:t>
            </a:r>
            <a:r>
              <a:rPr lang="fr-FR" dirty="0" smtClean="0">
                <a:latin typeface="Times New Roman" panose="02020603050405020304" pitchFamily="18" charset="0"/>
                <a:cs typeface="Times New Roman" panose="02020603050405020304" pitchFamily="18" charset="0"/>
              </a:rPr>
              <a:t>paragraphe »</a:t>
            </a:r>
            <a:br>
              <a:rPr lang="fr-FR" dirty="0">
                <a:latin typeface="Times New Roman" panose="02020603050405020304" pitchFamily="18" charset="0"/>
                <a:cs typeface="Times New Roman" panose="02020603050405020304" pitchFamily="18" charset="0"/>
              </a:rPr>
            </a:br>
            <a:r>
              <a:rPr lang="fr-FR" dirty="0">
                <a:latin typeface="Times New Roman" panose="02020603050405020304" pitchFamily="18" charset="0"/>
                <a:cs typeface="Times New Roman" panose="02020603050405020304" pitchFamily="18" charset="0"/>
              </a:rPr>
              <a:t>Bien sûr il faut écrire le contenu de notre site entre les balises &lt;body&gt;&lt;/body&gt;.</a:t>
            </a:r>
            <a:br>
              <a:rPr lang="fr-FR" dirty="0">
                <a:latin typeface="Times New Roman" panose="02020603050405020304" pitchFamily="18" charset="0"/>
                <a:cs typeface="Times New Roman" panose="02020603050405020304" pitchFamily="18" charset="0"/>
              </a:rPr>
            </a:br>
            <a:br>
              <a:rPr lang="fr-FR" dirty="0"/>
            </a:br>
            <a:endParaRPr lang="fr-FR"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custDataLst>
              <p:tags r:id="rId1"/>
            </p:custDataLst>
          </p:nvPr>
        </p:nvSpPr>
        <p:spPr>
          <a:xfrm>
            <a:off x="0" y="0"/>
            <a:ext cx="9144000" cy="92867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fr-FR" sz="3200" b="1" dirty="0">
                <a:latin typeface="Arial" panose="020B0604020202020204" pitchFamily="34" charset="0"/>
                <a:cs typeface="Arial" panose="020B0604020202020204" pitchFamily="34" charset="0"/>
              </a:rPr>
              <a:t>Une première page en HTML</a:t>
            </a:r>
            <a:endParaRPr lang="fr-FR" sz="3200" b="1" dirty="0" smtClean="0">
              <a:latin typeface="Arial" panose="020B0604020202020204" pitchFamily="34" charset="0"/>
              <a:cs typeface="Arial" panose="020B0604020202020204" pitchFamily="34" charset="0"/>
            </a:endParaRPr>
          </a:p>
        </p:txBody>
      </p:sp>
      <p:sp>
        <p:nvSpPr>
          <p:cNvPr id="3" name="Rectangle 2"/>
          <p:cNvSpPr/>
          <p:nvPr/>
        </p:nvSpPr>
        <p:spPr>
          <a:xfrm>
            <a:off x="467544" y="1166842"/>
            <a:ext cx="7992887" cy="1294393"/>
          </a:xfrm>
          <a:prstGeom prst="rect">
            <a:avLst/>
          </a:prstGeom>
        </p:spPr>
        <p:txBody>
          <a:bodyPr wrap="square">
            <a:spAutoFit/>
          </a:bodyPr>
          <a:lstStyle/>
          <a:p>
            <a:pPr>
              <a:lnSpc>
                <a:spcPct val="150000"/>
              </a:lnSpc>
            </a:pPr>
            <a:r>
              <a:rPr lang="fr-FR" b="1" dirty="0" smtClean="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Insérer </a:t>
            </a:r>
            <a:r>
              <a:rPr lang="fr-FR" b="1" dirty="0">
                <a:solidFill>
                  <a:srgbClr val="00B05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 commentaire</a:t>
            </a:r>
            <a:br>
              <a:rPr lang="fr-FR" dirty="0">
                <a:latin typeface="Times New Roman" panose="02020603050405020304" pitchFamily="18" charset="0"/>
                <a:cs typeface="Times New Roman" panose="02020603050405020304" pitchFamily="18" charset="0"/>
              </a:rPr>
            </a:br>
            <a:r>
              <a:rPr lang="fr-FR" dirty="0">
                <a:latin typeface="Times New Roman" panose="02020603050405020304" pitchFamily="18" charset="0"/>
                <a:cs typeface="Times New Roman" panose="02020603050405020304" pitchFamily="18" charset="0"/>
              </a:rPr>
              <a:t>Un commentaire est une balise HTML avec une forme bien spéciale :</a:t>
            </a:r>
            <a:br>
              <a:rPr lang="fr-FR" dirty="0">
                <a:latin typeface="Times New Roman" panose="02020603050405020304" pitchFamily="18" charset="0"/>
                <a:cs typeface="Times New Roman" panose="02020603050405020304" pitchFamily="18" charset="0"/>
              </a:rPr>
            </a:br>
            <a:r>
              <a:rPr lang="fr-FR" dirty="0">
                <a:latin typeface="Times New Roman" panose="02020603050405020304" pitchFamily="18" charset="0"/>
                <a:cs typeface="Times New Roman" panose="02020603050405020304" pitchFamily="18" charset="0"/>
              </a:rPr>
              <a:t>Exemple : &lt;!-- voici un commentaire --&gt;</a:t>
            </a:r>
            <a:endParaRPr lang="fr-FR"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custDataLst>
              <p:tags r:id="rId1"/>
            </p:custDataLst>
          </p:nvPr>
        </p:nvSpPr>
        <p:spPr>
          <a:xfrm>
            <a:off x="0" y="0"/>
            <a:ext cx="9144000" cy="92867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fr-FR" sz="3200" b="1" dirty="0" smtClean="0">
                <a:latin typeface="Arial" panose="020B0604020202020204" pitchFamily="34" charset="0"/>
                <a:cs typeface="Arial" panose="020B0604020202020204" pitchFamily="34" charset="0"/>
              </a:rPr>
              <a:t>HTML: mise en page</a:t>
            </a:r>
            <a:endParaRPr lang="fr-FR" sz="3200" b="1" dirty="0" smtClean="0">
              <a:latin typeface="Arial" panose="020B0604020202020204" pitchFamily="34" charset="0"/>
              <a:cs typeface="Arial" panose="020B0604020202020204" pitchFamily="34" charset="0"/>
            </a:endParaRPr>
          </a:p>
        </p:txBody>
      </p:sp>
      <p:sp>
        <p:nvSpPr>
          <p:cNvPr id="3" name="Rectangle 2"/>
          <p:cNvSpPr/>
          <p:nvPr/>
        </p:nvSpPr>
        <p:spPr>
          <a:xfrm>
            <a:off x="251520" y="974283"/>
            <a:ext cx="7992887" cy="3000821"/>
          </a:xfrm>
          <a:prstGeom prst="rect">
            <a:avLst/>
          </a:prstGeom>
        </p:spPr>
        <p:txBody>
          <a:bodyPr wrap="square">
            <a:spAutoFit/>
          </a:bodyPr>
          <a:lstStyle/>
          <a:p>
            <a:pPr marL="285750" indent="-285750">
              <a:lnSpc>
                <a:spcPct val="150000"/>
              </a:lnSpc>
              <a:buFont typeface="Arial" panose="020B0604020202020204" pitchFamily="34" charset="0"/>
              <a:buChar char="•"/>
            </a:pPr>
            <a:r>
              <a:rPr lang="fr-FR" dirty="0" smtClean="0">
                <a:latin typeface="Times New Roman" panose="02020603050405020304" pitchFamily="18" charset="0"/>
                <a:cs typeface="Times New Roman" panose="02020603050405020304" pitchFamily="18" charset="0"/>
              </a:rPr>
              <a:t>&lt;</a:t>
            </a:r>
            <a:r>
              <a:rPr lang="fr-FR" dirty="0">
                <a:latin typeface="Times New Roman" panose="02020603050405020304" pitchFamily="18" charset="0"/>
                <a:cs typeface="Times New Roman" panose="02020603050405020304" pitchFamily="18" charset="0"/>
              </a:rPr>
              <a:t>i&gt; &lt;/i&gt; Italique </a:t>
            </a:r>
            <a:endParaRPr lang="fr-FR"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fr-FR" dirty="0" smtClean="0">
                <a:latin typeface="Times New Roman" panose="02020603050405020304" pitchFamily="18" charset="0"/>
                <a:cs typeface="Times New Roman" panose="02020603050405020304" pitchFamily="18" charset="0"/>
              </a:rPr>
              <a:t>&lt;</a:t>
            </a:r>
            <a:r>
              <a:rPr lang="fr-FR" dirty="0" err="1">
                <a:latin typeface="Times New Roman" panose="02020603050405020304" pitchFamily="18" charset="0"/>
                <a:cs typeface="Times New Roman" panose="02020603050405020304" pitchFamily="18" charset="0"/>
              </a:rPr>
              <a:t>sub</a:t>
            </a:r>
            <a:r>
              <a:rPr lang="fr-FR" dirty="0">
                <a:latin typeface="Times New Roman" panose="02020603050405020304" pitchFamily="18" charset="0"/>
                <a:cs typeface="Times New Roman" panose="02020603050405020304" pitchFamily="18" charset="0"/>
              </a:rPr>
              <a:t>&gt; &lt;/</a:t>
            </a:r>
            <a:r>
              <a:rPr lang="fr-FR" dirty="0" err="1">
                <a:latin typeface="Times New Roman" panose="02020603050405020304" pitchFamily="18" charset="0"/>
                <a:cs typeface="Times New Roman" panose="02020603050405020304" pitchFamily="18" charset="0"/>
              </a:rPr>
              <a:t>sub</a:t>
            </a:r>
            <a:r>
              <a:rPr lang="fr-FR" dirty="0">
                <a:latin typeface="Times New Roman" panose="02020603050405020304" pitchFamily="18" charset="0"/>
                <a:cs typeface="Times New Roman" panose="02020603050405020304" pitchFamily="18" charset="0"/>
              </a:rPr>
              <a:t>&gt; Indice </a:t>
            </a:r>
            <a:endParaRPr lang="fr-FR"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fr-FR" dirty="0" smtClean="0">
                <a:latin typeface="Times New Roman" panose="02020603050405020304" pitchFamily="18" charset="0"/>
                <a:cs typeface="Times New Roman" panose="02020603050405020304" pitchFamily="18" charset="0"/>
              </a:rPr>
              <a:t>&lt;</a:t>
            </a:r>
            <a:r>
              <a:rPr lang="fr-FR" dirty="0">
                <a:latin typeface="Times New Roman" panose="02020603050405020304" pitchFamily="18" charset="0"/>
                <a:cs typeface="Times New Roman" panose="02020603050405020304" pitchFamily="18" charset="0"/>
              </a:rPr>
              <a:t>sup&gt; &lt;/sup&gt; Exposant</a:t>
            </a:r>
            <a:endParaRPr lang="fr-FR" dirty="0">
              <a:latin typeface="Times New Roman" panose="02020603050405020304" pitchFamily="18" charset="0"/>
              <a:cs typeface="Times New Roman" panose="02020603050405020304" pitchFamily="18" charset="0"/>
            </a:endParaRPr>
          </a:p>
          <a:p>
            <a:pPr>
              <a:lnSpc>
                <a:spcPct val="150000"/>
              </a:lnSpc>
            </a:pPr>
            <a:r>
              <a:rPr lang="fr-FR" dirty="0" smtClean="0">
                <a:latin typeface="Times New Roman" panose="02020603050405020304" pitchFamily="18" charset="0"/>
                <a:cs typeface="Times New Roman" panose="02020603050405020304" pitchFamily="18" charset="0"/>
              </a:rPr>
              <a:t>•Pour </a:t>
            </a:r>
            <a:r>
              <a:rPr lang="fr-FR" dirty="0">
                <a:latin typeface="Times New Roman" panose="02020603050405020304" pitchFamily="18" charset="0"/>
                <a:cs typeface="Times New Roman" panose="02020603050405020304" pitchFamily="18" charset="0"/>
              </a:rPr>
              <a:t>mettre un peu en valeur votre texte, vous devez utiliser la balise &lt;</a:t>
            </a:r>
            <a:r>
              <a:rPr lang="fr-FR" dirty="0" err="1">
                <a:latin typeface="Times New Roman" panose="02020603050405020304" pitchFamily="18" charset="0"/>
                <a:cs typeface="Times New Roman" panose="02020603050405020304" pitchFamily="18" charset="0"/>
              </a:rPr>
              <a:t>em</a:t>
            </a:r>
            <a:r>
              <a:rPr lang="fr-FR" dirty="0">
                <a:latin typeface="Times New Roman" panose="02020603050405020304" pitchFamily="18" charset="0"/>
                <a:cs typeface="Times New Roman" panose="02020603050405020304" pitchFamily="18" charset="0"/>
              </a:rPr>
              <a:t>&gt; &lt;/</a:t>
            </a:r>
            <a:r>
              <a:rPr lang="fr-FR" dirty="0" err="1">
                <a:latin typeface="Times New Roman" panose="02020603050405020304" pitchFamily="18" charset="0"/>
                <a:cs typeface="Times New Roman" panose="02020603050405020304" pitchFamily="18" charset="0"/>
              </a:rPr>
              <a:t>em</a:t>
            </a:r>
            <a:r>
              <a:rPr lang="fr-FR" dirty="0">
                <a:latin typeface="Times New Roman" panose="02020603050405020304" pitchFamily="18" charset="0"/>
                <a:cs typeface="Times New Roman" panose="02020603050405020304" pitchFamily="18" charset="0"/>
              </a:rPr>
              <a:t>&gt;.</a:t>
            </a:r>
            <a:endParaRPr lang="fr-FR" dirty="0">
              <a:latin typeface="Times New Roman" panose="02020603050405020304" pitchFamily="18" charset="0"/>
              <a:cs typeface="Times New Roman" panose="02020603050405020304" pitchFamily="18" charset="0"/>
            </a:endParaRPr>
          </a:p>
          <a:p>
            <a:pPr>
              <a:lnSpc>
                <a:spcPct val="150000"/>
              </a:lnSpc>
            </a:pPr>
            <a:r>
              <a:rPr lang="fr-FR" dirty="0" smtClean="0">
                <a:latin typeface="Times New Roman" panose="02020603050405020304" pitchFamily="18" charset="0"/>
                <a:cs typeface="Times New Roman" panose="02020603050405020304" pitchFamily="18" charset="0"/>
              </a:rPr>
              <a:t>•Pour </a:t>
            </a:r>
            <a:r>
              <a:rPr lang="fr-FR" dirty="0">
                <a:latin typeface="Times New Roman" panose="02020603050405020304" pitchFamily="18" charset="0"/>
                <a:cs typeface="Times New Roman" panose="02020603050405020304" pitchFamily="18" charset="0"/>
              </a:rPr>
              <a:t>mettre un texte bien en valeur, on utilise la balise &lt;</a:t>
            </a:r>
            <a:r>
              <a:rPr lang="fr-FR" dirty="0" err="1">
                <a:latin typeface="Times New Roman" panose="02020603050405020304" pitchFamily="18" charset="0"/>
                <a:cs typeface="Times New Roman" panose="02020603050405020304" pitchFamily="18" charset="0"/>
              </a:rPr>
              <a:t>strong</a:t>
            </a:r>
            <a:r>
              <a:rPr lang="fr-FR" dirty="0">
                <a:latin typeface="Times New Roman" panose="02020603050405020304" pitchFamily="18" charset="0"/>
                <a:cs typeface="Times New Roman" panose="02020603050405020304" pitchFamily="18" charset="0"/>
              </a:rPr>
              <a:t>&gt; qui signifie "fort", ou "</a:t>
            </a:r>
            <a:r>
              <a:rPr lang="fr-FR">
                <a:latin typeface="Times New Roman" panose="02020603050405020304" pitchFamily="18" charset="0"/>
                <a:cs typeface="Times New Roman" panose="02020603050405020304" pitchFamily="18" charset="0"/>
              </a:rPr>
              <a:t>important </a:t>
            </a:r>
            <a:r>
              <a:rPr lang="fr-FR" smtClean="0">
                <a:latin typeface="Times New Roman" panose="02020603050405020304" pitchFamily="18" charset="0"/>
                <a:cs typeface="Times New Roman" panose="02020603050405020304" pitchFamily="18" charset="0"/>
              </a:rPr>
              <a:t>"</a:t>
            </a:r>
            <a:endParaRPr lang="fr-FR" dirty="0" smtClean="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La balise &lt;mark&gt; permet de faire ressortir visuellement une portion de texte</a:t>
            </a:r>
            <a:endParaRPr lang="fr-FR"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custDataLst>
              <p:tags r:id="rId1"/>
            </p:custDataLst>
          </p:nvPr>
        </p:nvSpPr>
        <p:spPr>
          <a:xfrm>
            <a:off x="0" y="0"/>
            <a:ext cx="9144000" cy="92867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fr-FR" sz="3200" b="1" dirty="0" smtClean="0">
                <a:latin typeface="Arial" panose="020B0604020202020204" pitchFamily="34" charset="0"/>
                <a:cs typeface="Arial" panose="020B0604020202020204" pitchFamily="34" charset="0"/>
              </a:rPr>
              <a:t>HTML: mise en page</a:t>
            </a:r>
            <a:endParaRPr lang="fr-FR" sz="3200" b="1" dirty="0" smtClean="0">
              <a:latin typeface="Arial" panose="020B0604020202020204" pitchFamily="34" charset="0"/>
              <a:cs typeface="Arial" panose="020B0604020202020204" pitchFamily="34" charset="0"/>
            </a:endParaRPr>
          </a:p>
        </p:txBody>
      </p:sp>
      <p:graphicFrame>
        <p:nvGraphicFramePr>
          <p:cNvPr id="4" name="Tableau 3"/>
          <p:cNvGraphicFramePr>
            <a:graphicFrameLocks noGrp="1"/>
          </p:cNvGraphicFramePr>
          <p:nvPr/>
        </p:nvGraphicFramePr>
        <p:xfrm>
          <a:off x="179512" y="2035633"/>
          <a:ext cx="8147304" cy="1828800"/>
        </p:xfrm>
        <a:graphic>
          <a:graphicData uri="http://schemas.openxmlformats.org/drawingml/2006/table">
            <a:tbl>
              <a:tblPr/>
              <a:tblGrid>
                <a:gridCol w="2715768"/>
                <a:gridCol w="2715768"/>
                <a:gridCol w="2715768"/>
              </a:tblGrid>
              <a:tr h="0">
                <a:tc>
                  <a:txBody>
                    <a:bodyPr/>
                    <a:lstStyle/>
                    <a:p>
                      <a:r>
                        <a:rPr lang="fr-FR" dirty="0"/>
                        <a:t>- black (</a:t>
                      </a:r>
                      <a:r>
                        <a:rPr lang="fr-FR" dirty="0" err="1">
                          <a:solidFill>
                            <a:srgbClr val="000000"/>
                          </a:solidFill>
                          <a:effectLst/>
                        </a:rPr>
                        <a:t>example</a:t>
                      </a:r>
                      <a:r>
                        <a:rPr lang="fr-FR" dirty="0"/>
                        <a:t>)</a:t>
                      </a:r>
                      <a:endParaRPr lang="fr-FR" dirty="0"/>
                    </a:p>
                  </a:txBody>
                  <a:tcPr anchor="ctr">
                    <a:lnL>
                      <a:noFill/>
                    </a:lnL>
                    <a:lnR>
                      <a:noFill/>
                    </a:lnR>
                    <a:lnT>
                      <a:noFill/>
                    </a:lnT>
                    <a:lnB>
                      <a:noFill/>
                    </a:lnB>
                  </a:tcPr>
                </a:tc>
                <a:tc>
                  <a:txBody>
                    <a:bodyPr/>
                    <a:lstStyle/>
                    <a:p>
                      <a:r>
                        <a:rPr lang="fr-FR"/>
                        <a:t>- blue (</a:t>
                      </a:r>
                      <a:r>
                        <a:rPr lang="fr-FR">
                          <a:solidFill>
                            <a:srgbClr val="0000FF"/>
                          </a:solidFill>
                          <a:effectLst/>
                        </a:rPr>
                        <a:t>example</a:t>
                      </a:r>
                      <a:r>
                        <a:rPr lang="fr-FR"/>
                        <a:t>)</a:t>
                      </a:r>
                      <a:endParaRPr lang="fr-FR"/>
                    </a:p>
                  </a:txBody>
                  <a:tcPr anchor="ctr">
                    <a:lnL>
                      <a:noFill/>
                    </a:lnL>
                    <a:lnR>
                      <a:noFill/>
                    </a:lnR>
                    <a:lnT>
                      <a:noFill/>
                    </a:lnT>
                    <a:lnB>
                      <a:noFill/>
                    </a:lnB>
                  </a:tcPr>
                </a:tc>
                <a:tc>
                  <a:txBody>
                    <a:bodyPr/>
                    <a:lstStyle/>
                    <a:p>
                      <a:r>
                        <a:rPr lang="fr-FR"/>
                        <a:t>- fuchsia (</a:t>
                      </a:r>
                      <a:r>
                        <a:rPr lang="fr-FR">
                          <a:solidFill>
                            <a:srgbClr val="FF00FF"/>
                          </a:solidFill>
                          <a:effectLst/>
                        </a:rPr>
                        <a:t>example</a:t>
                      </a:r>
                      <a:r>
                        <a:rPr lang="fr-FR"/>
                        <a:t>)</a:t>
                      </a:r>
                      <a:endParaRPr lang="fr-FR"/>
                    </a:p>
                  </a:txBody>
                  <a:tcPr anchor="ctr">
                    <a:lnL>
                      <a:noFill/>
                    </a:lnL>
                    <a:lnR>
                      <a:noFill/>
                    </a:lnR>
                    <a:lnT>
                      <a:noFill/>
                    </a:lnT>
                    <a:lnB>
                      <a:noFill/>
                    </a:lnB>
                  </a:tcPr>
                </a:tc>
              </a:tr>
              <a:tr h="0">
                <a:tc>
                  <a:txBody>
                    <a:bodyPr/>
                    <a:lstStyle/>
                    <a:p>
                      <a:r>
                        <a:rPr lang="fr-FR"/>
                        <a:t>- gray (</a:t>
                      </a:r>
                      <a:r>
                        <a:rPr lang="fr-FR">
                          <a:solidFill>
                            <a:srgbClr val="808080"/>
                          </a:solidFill>
                          <a:effectLst/>
                        </a:rPr>
                        <a:t>example</a:t>
                      </a:r>
                      <a:r>
                        <a:rPr lang="fr-FR"/>
                        <a:t>)</a:t>
                      </a:r>
                      <a:endParaRPr lang="fr-FR"/>
                    </a:p>
                  </a:txBody>
                  <a:tcPr anchor="ctr">
                    <a:lnL>
                      <a:noFill/>
                    </a:lnL>
                    <a:lnR>
                      <a:noFill/>
                    </a:lnR>
                    <a:lnT>
                      <a:noFill/>
                    </a:lnT>
                    <a:lnB>
                      <a:noFill/>
                    </a:lnB>
                  </a:tcPr>
                </a:tc>
                <a:tc>
                  <a:txBody>
                    <a:bodyPr/>
                    <a:lstStyle/>
                    <a:p>
                      <a:r>
                        <a:rPr lang="fr-FR"/>
                        <a:t>- green (</a:t>
                      </a:r>
                      <a:r>
                        <a:rPr lang="fr-FR">
                          <a:solidFill>
                            <a:srgbClr val="008000"/>
                          </a:solidFill>
                          <a:effectLst/>
                        </a:rPr>
                        <a:t>example</a:t>
                      </a:r>
                      <a:r>
                        <a:rPr lang="fr-FR"/>
                        <a:t>)</a:t>
                      </a:r>
                      <a:endParaRPr lang="fr-FR"/>
                    </a:p>
                  </a:txBody>
                  <a:tcPr anchor="ctr">
                    <a:lnL>
                      <a:noFill/>
                    </a:lnL>
                    <a:lnR>
                      <a:noFill/>
                    </a:lnR>
                    <a:lnT>
                      <a:noFill/>
                    </a:lnT>
                    <a:lnB>
                      <a:noFill/>
                    </a:lnB>
                  </a:tcPr>
                </a:tc>
                <a:tc>
                  <a:txBody>
                    <a:bodyPr/>
                    <a:lstStyle/>
                    <a:p>
                      <a:r>
                        <a:rPr lang="fr-FR"/>
                        <a:t>- lime (</a:t>
                      </a:r>
                      <a:r>
                        <a:rPr lang="fr-FR">
                          <a:solidFill>
                            <a:srgbClr val="00FF00"/>
                          </a:solidFill>
                          <a:effectLst/>
                        </a:rPr>
                        <a:t>example</a:t>
                      </a:r>
                      <a:r>
                        <a:rPr lang="fr-FR"/>
                        <a:t>)</a:t>
                      </a:r>
                      <a:endParaRPr lang="fr-FR"/>
                    </a:p>
                  </a:txBody>
                  <a:tcPr anchor="ctr">
                    <a:lnL>
                      <a:noFill/>
                    </a:lnL>
                    <a:lnR>
                      <a:noFill/>
                    </a:lnR>
                    <a:lnT>
                      <a:noFill/>
                    </a:lnT>
                    <a:lnB>
                      <a:noFill/>
                    </a:lnB>
                  </a:tcPr>
                </a:tc>
              </a:tr>
              <a:tr h="0">
                <a:tc>
                  <a:txBody>
                    <a:bodyPr/>
                    <a:lstStyle/>
                    <a:p>
                      <a:r>
                        <a:rPr lang="fr-FR"/>
                        <a:t>- maroon (</a:t>
                      </a:r>
                      <a:r>
                        <a:rPr lang="fr-FR">
                          <a:solidFill>
                            <a:srgbClr val="800000"/>
                          </a:solidFill>
                          <a:effectLst/>
                        </a:rPr>
                        <a:t>example</a:t>
                      </a:r>
                      <a:r>
                        <a:rPr lang="fr-FR"/>
                        <a:t>)</a:t>
                      </a:r>
                      <a:endParaRPr lang="fr-FR"/>
                    </a:p>
                  </a:txBody>
                  <a:tcPr anchor="ctr">
                    <a:lnL>
                      <a:noFill/>
                    </a:lnL>
                    <a:lnR>
                      <a:noFill/>
                    </a:lnR>
                    <a:lnT>
                      <a:noFill/>
                    </a:lnT>
                    <a:lnB>
                      <a:noFill/>
                    </a:lnB>
                  </a:tcPr>
                </a:tc>
                <a:tc>
                  <a:txBody>
                    <a:bodyPr/>
                    <a:lstStyle/>
                    <a:p>
                      <a:r>
                        <a:rPr lang="fr-FR" dirty="0"/>
                        <a:t>- </a:t>
                      </a:r>
                      <a:r>
                        <a:rPr lang="fr-FR" dirty="0" err="1"/>
                        <a:t>navy</a:t>
                      </a:r>
                      <a:r>
                        <a:rPr lang="fr-FR" dirty="0"/>
                        <a:t> (</a:t>
                      </a:r>
                      <a:r>
                        <a:rPr lang="fr-FR" dirty="0" err="1">
                          <a:solidFill>
                            <a:srgbClr val="000080"/>
                          </a:solidFill>
                          <a:effectLst/>
                        </a:rPr>
                        <a:t>example</a:t>
                      </a:r>
                      <a:r>
                        <a:rPr lang="fr-FR" dirty="0"/>
                        <a:t>)</a:t>
                      </a:r>
                      <a:endParaRPr lang="fr-FR" dirty="0"/>
                    </a:p>
                  </a:txBody>
                  <a:tcPr anchor="ctr">
                    <a:lnL>
                      <a:noFill/>
                    </a:lnL>
                    <a:lnR>
                      <a:noFill/>
                    </a:lnR>
                    <a:lnT>
                      <a:noFill/>
                    </a:lnT>
                    <a:lnB>
                      <a:noFill/>
                    </a:lnB>
                  </a:tcPr>
                </a:tc>
                <a:tc>
                  <a:txBody>
                    <a:bodyPr/>
                    <a:lstStyle/>
                    <a:p>
                      <a:r>
                        <a:rPr lang="fr-FR"/>
                        <a:t>- olive (</a:t>
                      </a:r>
                      <a:r>
                        <a:rPr lang="fr-FR">
                          <a:solidFill>
                            <a:srgbClr val="808000"/>
                          </a:solidFill>
                          <a:effectLst/>
                        </a:rPr>
                        <a:t>example</a:t>
                      </a:r>
                      <a:r>
                        <a:rPr lang="fr-FR"/>
                        <a:t>)</a:t>
                      </a:r>
                      <a:endParaRPr lang="fr-FR"/>
                    </a:p>
                  </a:txBody>
                  <a:tcPr anchor="ctr">
                    <a:lnL>
                      <a:noFill/>
                    </a:lnL>
                    <a:lnR>
                      <a:noFill/>
                    </a:lnR>
                    <a:lnT>
                      <a:noFill/>
                    </a:lnT>
                    <a:lnB>
                      <a:noFill/>
                    </a:lnB>
                  </a:tcPr>
                </a:tc>
              </a:tr>
              <a:tr h="0">
                <a:tc>
                  <a:txBody>
                    <a:bodyPr/>
                    <a:lstStyle/>
                    <a:p>
                      <a:r>
                        <a:rPr lang="fr-FR"/>
                        <a:t>- purple (</a:t>
                      </a:r>
                      <a:r>
                        <a:rPr lang="fr-FR">
                          <a:solidFill>
                            <a:srgbClr val="800080"/>
                          </a:solidFill>
                          <a:effectLst/>
                        </a:rPr>
                        <a:t>example</a:t>
                      </a:r>
                      <a:r>
                        <a:rPr lang="fr-FR"/>
                        <a:t>)</a:t>
                      </a:r>
                      <a:endParaRPr lang="fr-FR"/>
                    </a:p>
                  </a:txBody>
                  <a:tcPr anchor="ctr">
                    <a:lnL>
                      <a:noFill/>
                    </a:lnL>
                    <a:lnR>
                      <a:noFill/>
                    </a:lnR>
                    <a:lnT>
                      <a:noFill/>
                    </a:lnT>
                    <a:lnB>
                      <a:noFill/>
                    </a:lnB>
                  </a:tcPr>
                </a:tc>
                <a:tc>
                  <a:txBody>
                    <a:bodyPr/>
                    <a:lstStyle/>
                    <a:p>
                      <a:r>
                        <a:rPr lang="fr-FR"/>
                        <a:t>- red (</a:t>
                      </a:r>
                      <a:r>
                        <a:rPr lang="fr-FR">
                          <a:solidFill>
                            <a:srgbClr val="FF0000"/>
                          </a:solidFill>
                          <a:effectLst/>
                        </a:rPr>
                        <a:t>example</a:t>
                      </a:r>
                      <a:r>
                        <a:rPr lang="fr-FR"/>
                        <a:t>)</a:t>
                      </a:r>
                      <a:endParaRPr lang="fr-FR"/>
                    </a:p>
                  </a:txBody>
                  <a:tcPr anchor="ctr">
                    <a:lnL>
                      <a:noFill/>
                    </a:lnL>
                    <a:lnR>
                      <a:noFill/>
                    </a:lnR>
                    <a:lnT>
                      <a:noFill/>
                    </a:lnT>
                    <a:lnB>
                      <a:noFill/>
                    </a:lnB>
                  </a:tcPr>
                </a:tc>
                <a:tc>
                  <a:txBody>
                    <a:bodyPr/>
                    <a:lstStyle/>
                    <a:p>
                      <a:r>
                        <a:rPr lang="fr-FR"/>
                        <a:t>- silver (</a:t>
                      </a:r>
                      <a:r>
                        <a:rPr lang="fr-FR">
                          <a:solidFill>
                            <a:srgbClr val="C0C0C0"/>
                          </a:solidFill>
                          <a:effectLst/>
                        </a:rPr>
                        <a:t>example</a:t>
                      </a:r>
                      <a:r>
                        <a:rPr lang="fr-FR"/>
                        <a:t>)</a:t>
                      </a:r>
                      <a:endParaRPr lang="fr-FR"/>
                    </a:p>
                  </a:txBody>
                  <a:tcPr anchor="ctr">
                    <a:lnL>
                      <a:noFill/>
                    </a:lnL>
                    <a:lnR>
                      <a:noFill/>
                    </a:lnR>
                    <a:lnT>
                      <a:noFill/>
                    </a:lnT>
                    <a:lnB>
                      <a:noFill/>
                    </a:lnB>
                  </a:tcPr>
                </a:tc>
              </a:tr>
              <a:tr h="0">
                <a:tc>
                  <a:txBody>
                    <a:bodyPr/>
                    <a:lstStyle/>
                    <a:p>
                      <a:r>
                        <a:rPr lang="fr-FR"/>
                        <a:t>- teal (</a:t>
                      </a:r>
                      <a:r>
                        <a:rPr lang="fr-FR">
                          <a:solidFill>
                            <a:srgbClr val="008080"/>
                          </a:solidFill>
                          <a:effectLst/>
                        </a:rPr>
                        <a:t>example</a:t>
                      </a:r>
                      <a:r>
                        <a:rPr lang="fr-FR"/>
                        <a:t>)</a:t>
                      </a:r>
                      <a:endParaRPr lang="fr-FR"/>
                    </a:p>
                  </a:txBody>
                  <a:tcPr anchor="ctr">
                    <a:lnL>
                      <a:noFill/>
                    </a:lnL>
                    <a:lnR>
                      <a:noFill/>
                    </a:lnR>
                    <a:lnT>
                      <a:noFill/>
                    </a:lnT>
                    <a:lnB>
                      <a:noFill/>
                    </a:lnB>
                  </a:tcPr>
                </a:tc>
                <a:tc>
                  <a:txBody>
                    <a:bodyPr/>
                    <a:lstStyle/>
                    <a:p>
                      <a:r>
                        <a:rPr lang="fr-FR" dirty="0"/>
                        <a:t>- white (</a:t>
                      </a:r>
                      <a:r>
                        <a:rPr lang="fr-FR" dirty="0" err="1">
                          <a:solidFill>
                            <a:srgbClr val="FFFFFF"/>
                          </a:solidFill>
                          <a:effectLst/>
                        </a:rPr>
                        <a:t>example</a:t>
                      </a:r>
                      <a:r>
                        <a:rPr lang="fr-FR" dirty="0"/>
                        <a:t>)</a:t>
                      </a:r>
                      <a:endParaRPr lang="fr-FR" dirty="0"/>
                    </a:p>
                  </a:txBody>
                  <a:tcPr anchor="ctr">
                    <a:lnL>
                      <a:noFill/>
                    </a:lnL>
                    <a:lnR>
                      <a:noFill/>
                    </a:lnR>
                    <a:lnT>
                      <a:noFill/>
                    </a:lnT>
                    <a:lnB>
                      <a:noFill/>
                    </a:lnB>
                  </a:tcPr>
                </a:tc>
                <a:tc>
                  <a:txBody>
                    <a:bodyPr/>
                    <a:lstStyle/>
                    <a:p>
                      <a:r>
                        <a:rPr lang="fr-FR" dirty="0"/>
                        <a:t>- </a:t>
                      </a:r>
                      <a:r>
                        <a:rPr lang="fr-FR" dirty="0" err="1"/>
                        <a:t>yellow</a:t>
                      </a:r>
                      <a:r>
                        <a:rPr lang="fr-FR" dirty="0"/>
                        <a:t> (</a:t>
                      </a:r>
                      <a:r>
                        <a:rPr lang="fr-FR" dirty="0" err="1">
                          <a:solidFill>
                            <a:srgbClr val="FFFF00"/>
                          </a:solidFill>
                          <a:effectLst/>
                        </a:rPr>
                        <a:t>example</a:t>
                      </a:r>
                      <a:r>
                        <a:rPr lang="fr-FR" dirty="0"/>
                        <a:t>)</a:t>
                      </a:r>
                      <a:endParaRPr lang="fr-FR" dirty="0"/>
                    </a:p>
                  </a:txBody>
                  <a:tcPr anchor="ctr">
                    <a:lnL>
                      <a:noFill/>
                    </a:lnL>
                    <a:lnR>
                      <a:noFill/>
                    </a:lnR>
                    <a:lnT>
                      <a:noFill/>
                    </a:lnT>
                    <a:lnB>
                      <a:noFill/>
                    </a:lnB>
                  </a:tcPr>
                </a:tc>
              </a:tr>
            </a:tbl>
          </a:graphicData>
        </a:graphic>
      </p:graphicFrame>
      <p:sp>
        <p:nvSpPr>
          <p:cNvPr id="5" name="Rectangle 1"/>
          <p:cNvSpPr>
            <a:spLocks noChangeArrowheads="1"/>
          </p:cNvSpPr>
          <p:nvPr/>
        </p:nvSpPr>
        <p:spPr bwMode="auto">
          <a:xfrm>
            <a:off x="179512" y="1124744"/>
            <a:ext cx="760191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fr-FR" altLang="fr-FR"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Le HTML propose un petit nombre de couleurs prédéfinies dont les principales sont : </a:t>
            </a:r>
            <a:endParaRPr kumimoji="0" lang="fr-FR" altLang="fr-FR"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fr-FR" altLang="fr-FR"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sp>
        <p:nvSpPr>
          <p:cNvPr id="6" name="Rectangle 5"/>
          <p:cNvSpPr/>
          <p:nvPr/>
        </p:nvSpPr>
        <p:spPr>
          <a:xfrm>
            <a:off x="395536" y="4549770"/>
            <a:ext cx="7992888" cy="369332"/>
          </a:xfrm>
          <a:prstGeom prst="rect">
            <a:avLst/>
          </a:prstGeom>
        </p:spPr>
        <p:txBody>
          <a:bodyPr wrap="square">
            <a:spAutoFit/>
          </a:bodyPr>
          <a:lstStyle/>
          <a:p>
            <a:r>
              <a:rPr lang="fr-FR" dirty="0">
                <a:latin typeface="Times New Roman" panose="02020603050405020304" pitchFamily="18" charset="0"/>
                <a:cs typeface="Times New Roman" panose="02020603050405020304" pitchFamily="18" charset="0"/>
              </a:rPr>
              <a:t>&lt;p&gt;&lt;font color="fuchsia"&gt;Texte en rose fuchsia.&lt;/font&gt;&lt;/p&gt;</a:t>
            </a:r>
            <a:endParaRPr lang="fr-FR"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custDataLst>
              <p:tags r:id="rId1"/>
            </p:custDataLst>
          </p:nvPr>
        </p:nvSpPr>
        <p:spPr>
          <a:xfrm>
            <a:off x="0" y="0"/>
            <a:ext cx="9144000" cy="92867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fr-FR" sz="3200" b="1" dirty="0" smtClean="0">
                <a:latin typeface="Arial" panose="020B0604020202020204" pitchFamily="34" charset="0"/>
                <a:cs typeface="Arial" panose="020B0604020202020204" pitchFamily="34" charset="0"/>
              </a:rPr>
              <a:t>HTML: mise en page</a:t>
            </a:r>
            <a:endParaRPr lang="fr-FR" sz="3200" b="1" dirty="0" smtClean="0">
              <a:latin typeface="Arial" panose="020B0604020202020204" pitchFamily="34" charset="0"/>
              <a:cs typeface="Arial" panose="020B0604020202020204" pitchFamily="34" charset="0"/>
            </a:endParaRPr>
          </a:p>
        </p:txBody>
      </p:sp>
      <p:sp>
        <p:nvSpPr>
          <p:cNvPr id="5" name="Rectangle 1"/>
          <p:cNvSpPr>
            <a:spLocks noChangeArrowheads="1"/>
          </p:cNvSpPr>
          <p:nvPr/>
        </p:nvSpPr>
        <p:spPr bwMode="auto">
          <a:xfrm>
            <a:off x="179512" y="1186880"/>
            <a:ext cx="7601917"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fontAlgn="base">
              <a:spcBef>
                <a:spcPct val="0"/>
              </a:spcBef>
              <a:spcAft>
                <a:spcPct val="0"/>
              </a:spcAft>
            </a:pPr>
            <a:r>
              <a:rPr lang="fr-FR" altLang="fr-FR" sz="2000" dirty="0">
                <a:latin typeface="Times New Roman" panose="02020603050405020304" pitchFamily="18" charset="0"/>
                <a:cs typeface="Times New Roman" panose="02020603050405020304" pitchFamily="18" charset="0"/>
              </a:rPr>
              <a:t>Choisir l'alignement du texte</a:t>
            </a:r>
            <a:endParaRPr lang="fr-FR" altLang="fr-FR" sz="2000" dirty="0">
              <a:latin typeface="Times New Roman" panose="02020603050405020304" pitchFamily="18" charset="0"/>
              <a:cs typeface="Times New Roman" panose="02020603050405020304" pitchFamily="18" charset="0"/>
            </a:endParaRPr>
          </a:p>
          <a:p>
            <a:pPr lvl="0" algn="ctr" fontAlgn="base">
              <a:spcBef>
                <a:spcPct val="0"/>
              </a:spcBef>
              <a:spcAft>
                <a:spcPct val="0"/>
              </a:spcAft>
            </a:pPr>
            <a:endParaRPr lang="fr-FR" altLang="fr-FR" sz="2000" dirty="0">
              <a:latin typeface="Times New Roman" panose="02020603050405020304" pitchFamily="18" charset="0"/>
              <a:cs typeface="Times New Roman" panose="02020603050405020304" pitchFamily="18" charset="0"/>
            </a:endParaRPr>
          </a:p>
          <a:p>
            <a:pPr lvl="0" algn="ctr" fontAlgn="base">
              <a:spcBef>
                <a:spcPct val="0"/>
              </a:spcBef>
              <a:spcAft>
                <a:spcPct val="0"/>
              </a:spcAft>
            </a:pPr>
            <a:r>
              <a:rPr lang="fr-FR" altLang="fr-FR" sz="2000" dirty="0">
                <a:latin typeface="Times New Roman" panose="02020603050405020304" pitchFamily="18" charset="0"/>
                <a:cs typeface="Times New Roman" panose="02020603050405020304" pitchFamily="18" charset="0"/>
              </a:rPr>
              <a:t>Les balises p, h1, h2(...) supportent un attribut "</a:t>
            </a:r>
            <a:r>
              <a:rPr lang="fr-FR" altLang="fr-FR" sz="2000" dirty="0" err="1">
                <a:latin typeface="Times New Roman" panose="02020603050405020304" pitchFamily="18" charset="0"/>
                <a:cs typeface="Times New Roman" panose="02020603050405020304" pitchFamily="18" charset="0"/>
              </a:rPr>
              <a:t>align</a:t>
            </a:r>
            <a:r>
              <a:rPr lang="fr-FR" altLang="fr-FR" sz="2000" dirty="0">
                <a:latin typeface="Times New Roman" panose="02020603050405020304" pitchFamily="18" charset="0"/>
                <a:cs typeface="Times New Roman" panose="02020603050405020304" pitchFamily="18" charset="0"/>
              </a:rPr>
              <a:t>" qui permet de modifier l'alignement horizontal du texte. Il peut prendre les valeurs suivantes :</a:t>
            </a:r>
            <a:endParaRPr lang="fr-FR" altLang="fr-FR" sz="2000" dirty="0">
              <a:latin typeface="Times New Roman" panose="02020603050405020304" pitchFamily="18" charset="0"/>
              <a:cs typeface="Times New Roman" panose="02020603050405020304" pitchFamily="18" charset="0"/>
            </a:endParaRPr>
          </a:p>
          <a:p>
            <a:pPr lvl="0" algn="ctr" fontAlgn="base">
              <a:spcBef>
                <a:spcPct val="0"/>
              </a:spcBef>
              <a:spcAft>
                <a:spcPct val="0"/>
              </a:spcAft>
            </a:pPr>
            <a:endParaRPr lang="fr-FR" altLang="fr-FR" sz="2000" dirty="0">
              <a:latin typeface="Times New Roman" panose="02020603050405020304" pitchFamily="18" charset="0"/>
              <a:cs typeface="Times New Roman" panose="02020603050405020304" pitchFamily="18" charset="0"/>
            </a:endParaRPr>
          </a:p>
          <a:p>
            <a:pPr lvl="0" algn="ctr" fontAlgn="base">
              <a:spcBef>
                <a:spcPct val="0"/>
              </a:spcBef>
              <a:spcAft>
                <a:spcPct val="0"/>
              </a:spcAft>
            </a:pPr>
            <a:r>
              <a:rPr lang="fr-FR" altLang="fr-FR" sz="2000" dirty="0">
                <a:latin typeface="Times New Roman" panose="02020603050405020304" pitchFamily="18" charset="0"/>
                <a:cs typeface="Times New Roman" panose="02020603050405020304" pitchFamily="18" charset="0"/>
              </a:rPr>
              <a:t>    </a:t>
            </a:r>
            <a:r>
              <a:rPr lang="fr-FR" altLang="fr-FR" sz="2000" dirty="0" err="1">
                <a:latin typeface="Times New Roman" panose="02020603050405020304" pitchFamily="18" charset="0"/>
                <a:cs typeface="Times New Roman" panose="02020603050405020304" pitchFamily="18" charset="0"/>
              </a:rPr>
              <a:t>left</a:t>
            </a:r>
            <a:r>
              <a:rPr lang="fr-FR" altLang="fr-FR" sz="2000" dirty="0">
                <a:latin typeface="Times New Roman" panose="02020603050405020304" pitchFamily="18" charset="0"/>
                <a:cs typeface="Times New Roman" panose="02020603050405020304" pitchFamily="18" charset="0"/>
              </a:rPr>
              <a:t> : aligné à gauche (par défaut),</a:t>
            </a:r>
            <a:endParaRPr lang="fr-FR" altLang="fr-FR" sz="2000" dirty="0">
              <a:latin typeface="Times New Roman" panose="02020603050405020304" pitchFamily="18" charset="0"/>
              <a:cs typeface="Times New Roman" panose="02020603050405020304" pitchFamily="18" charset="0"/>
            </a:endParaRPr>
          </a:p>
          <a:p>
            <a:pPr lvl="0" algn="ctr" fontAlgn="base">
              <a:spcBef>
                <a:spcPct val="0"/>
              </a:spcBef>
              <a:spcAft>
                <a:spcPct val="0"/>
              </a:spcAft>
            </a:pPr>
            <a:r>
              <a:rPr lang="fr-FR" altLang="fr-FR" sz="2000" dirty="0">
                <a:latin typeface="Times New Roman" panose="02020603050405020304" pitchFamily="18" charset="0"/>
                <a:cs typeface="Times New Roman" panose="02020603050405020304" pitchFamily="18" charset="0"/>
              </a:rPr>
              <a:t>    right : aligné à droite,</a:t>
            </a:r>
            <a:endParaRPr lang="fr-FR" altLang="fr-FR" sz="2000" dirty="0">
              <a:latin typeface="Times New Roman" panose="02020603050405020304" pitchFamily="18" charset="0"/>
              <a:cs typeface="Times New Roman" panose="02020603050405020304" pitchFamily="18" charset="0"/>
            </a:endParaRPr>
          </a:p>
          <a:p>
            <a:pPr lvl="0" algn="ctr" fontAlgn="base">
              <a:spcBef>
                <a:spcPct val="0"/>
              </a:spcBef>
              <a:spcAft>
                <a:spcPct val="0"/>
              </a:spcAft>
            </a:pPr>
            <a:r>
              <a:rPr lang="fr-FR" altLang="fr-FR" sz="2000" dirty="0">
                <a:latin typeface="Times New Roman" panose="02020603050405020304" pitchFamily="18" charset="0"/>
                <a:cs typeface="Times New Roman" panose="02020603050405020304" pitchFamily="18" charset="0"/>
              </a:rPr>
              <a:t>    center : centré,</a:t>
            </a:r>
            <a:endParaRPr lang="fr-FR" altLang="fr-FR" sz="2000" dirty="0">
              <a:latin typeface="Times New Roman" panose="02020603050405020304" pitchFamily="18" charset="0"/>
              <a:cs typeface="Times New Roman" panose="02020603050405020304" pitchFamily="18" charset="0"/>
            </a:endParaRPr>
          </a:p>
          <a:p>
            <a:pPr lvl="0" algn="ctr" fontAlgn="base">
              <a:spcBef>
                <a:spcPct val="0"/>
              </a:spcBef>
              <a:spcAft>
                <a:spcPct val="0"/>
              </a:spcAft>
            </a:pPr>
            <a:r>
              <a:rPr lang="fr-FR" altLang="fr-FR" sz="2000" dirty="0">
                <a:latin typeface="Times New Roman" panose="02020603050405020304" pitchFamily="18" charset="0"/>
                <a:cs typeface="Times New Roman" panose="02020603050405020304" pitchFamily="18" charset="0"/>
              </a:rPr>
              <a:t>    </a:t>
            </a:r>
            <a:r>
              <a:rPr lang="fr-FR" altLang="fr-FR" sz="2000" dirty="0" err="1">
                <a:latin typeface="Times New Roman" panose="02020603050405020304" pitchFamily="18" charset="0"/>
                <a:cs typeface="Times New Roman" panose="02020603050405020304" pitchFamily="18" charset="0"/>
              </a:rPr>
              <a:t>justify</a:t>
            </a:r>
            <a:r>
              <a:rPr lang="fr-FR" altLang="fr-FR" sz="2000" dirty="0">
                <a:latin typeface="Times New Roman" panose="02020603050405020304" pitchFamily="18" charset="0"/>
                <a:cs typeface="Times New Roman" panose="02020603050405020304" pitchFamily="18" charset="0"/>
              </a:rPr>
              <a:t> : justifié (aligné à droite et à gauche).</a:t>
            </a:r>
            <a:endParaRPr lang="fr-FR" altLang="fr-FR"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custDataLst>
              <p:tags r:id="rId1"/>
            </p:custDataLst>
          </p:nvPr>
        </p:nvSpPr>
        <p:spPr>
          <a:xfrm>
            <a:off x="0" y="0"/>
            <a:ext cx="9144000" cy="92867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fr-FR" sz="3200" b="1" dirty="0" smtClean="0">
                <a:latin typeface="Arial" panose="020B0604020202020204" pitchFamily="34" charset="0"/>
                <a:cs typeface="Arial" panose="020B0604020202020204" pitchFamily="34" charset="0"/>
              </a:rPr>
              <a:t>HTML: les listes</a:t>
            </a:r>
            <a:endParaRPr lang="fr-FR" sz="3200" b="1" dirty="0" smtClean="0">
              <a:latin typeface="Arial" panose="020B0604020202020204" pitchFamily="34" charset="0"/>
              <a:cs typeface="Arial" panose="020B0604020202020204" pitchFamily="34" charset="0"/>
            </a:endParaRPr>
          </a:p>
        </p:txBody>
      </p:sp>
      <p:graphicFrame>
        <p:nvGraphicFramePr>
          <p:cNvPr id="5" name="Tableau 4"/>
          <p:cNvGraphicFramePr>
            <a:graphicFrameLocks noGrp="1"/>
          </p:cNvGraphicFramePr>
          <p:nvPr/>
        </p:nvGraphicFramePr>
        <p:xfrm>
          <a:off x="457200" y="1556793"/>
          <a:ext cx="8229600" cy="4176466"/>
        </p:xfrm>
        <a:graphic>
          <a:graphicData uri="http://schemas.openxmlformats.org/drawingml/2006/table">
            <a:tbl>
              <a:tblPr>
                <a:tableStyleId>{3C2FFA5D-87B4-456A-9821-1D502468CF0F}</a:tableStyleId>
              </a:tblPr>
              <a:tblGrid>
                <a:gridCol w="2592288"/>
                <a:gridCol w="5637312"/>
              </a:tblGrid>
              <a:tr h="596638">
                <a:tc>
                  <a:txBody>
                    <a:bodyPr/>
                    <a:lstStyle/>
                    <a:p>
                      <a:pPr algn="ctr"/>
                      <a:r>
                        <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Balise</a:t>
                      </a:r>
                      <a:endPar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Indication donnée au navigateur</a:t>
                      </a:r>
                      <a:endPar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r>
              <a:tr h="596638">
                <a:tc>
                  <a:txBody>
                    <a:bodyPr/>
                    <a:lstStyle/>
                    <a:p>
                      <a:pPr algn="ctr"/>
                      <a:r>
                        <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&lt;ol&gt;</a:t>
                      </a:r>
                      <a:endPar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Début d'une liste ordonnée.</a:t>
                      </a:r>
                      <a:endPar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r>
              <a:tr h="596638">
                <a:tc>
                  <a:txBody>
                    <a:bodyPr/>
                    <a:lstStyle/>
                    <a:p>
                      <a:pPr algn="ctr"/>
                      <a:r>
                        <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&lt;/ol&gt;</a:t>
                      </a:r>
                      <a:endPar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Fin d'une liste ordonnée.</a:t>
                      </a:r>
                      <a:endPar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r>
              <a:tr h="596638">
                <a:tc>
                  <a:txBody>
                    <a:bodyPr/>
                    <a:lstStyle/>
                    <a:p>
                      <a:pPr algn="ctr"/>
                      <a:r>
                        <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&lt;ul&gt;</a:t>
                      </a:r>
                      <a:endPar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Début d'une liste non-ordonnée.</a:t>
                      </a:r>
                      <a:endPar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r>
              <a:tr h="596638">
                <a:tc>
                  <a:txBody>
                    <a:bodyPr/>
                    <a:lstStyle/>
                    <a:p>
                      <a:pPr algn="ctr"/>
                      <a:r>
                        <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&lt;/ul&gt;</a:t>
                      </a:r>
                      <a:endPar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Fin d'une liste non-ordonnée.</a:t>
                      </a:r>
                      <a:endPar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r>
              <a:tr h="596638">
                <a:tc>
                  <a:txBody>
                    <a:bodyPr/>
                    <a:lstStyle/>
                    <a:p>
                      <a:pPr algn="ctr"/>
                      <a:r>
                        <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&lt;li&gt;</a:t>
                      </a:r>
                      <a:endPar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Début d'un item de la liste (une puce sera ajoutée).</a:t>
                      </a:r>
                      <a:endPar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r>
              <a:tr h="596638">
                <a:tc>
                  <a:txBody>
                    <a:bodyPr/>
                    <a:lstStyle/>
                    <a:p>
                      <a:pPr algn="ctr"/>
                      <a:r>
                        <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&lt;/li&gt;</a:t>
                      </a:r>
                      <a:endParaRPr lang="fr-FR"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fr-FR"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Fin d'un item de la liste.</a:t>
                      </a:r>
                      <a:endParaRPr lang="fr-FR"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custDataLst>
              <p:tags r:id="rId1"/>
            </p:custDataLst>
          </p:nvPr>
        </p:nvSpPr>
        <p:spPr>
          <a:xfrm>
            <a:off x="0" y="0"/>
            <a:ext cx="9144000" cy="92867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fr-FR" sz="3200" b="1" dirty="0" smtClean="0">
                <a:latin typeface="Arial" panose="020B0604020202020204" pitchFamily="34" charset="0"/>
                <a:cs typeface="Arial" panose="020B0604020202020204" pitchFamily="34" charset="0"/>
              </a:rPr>
              <a:t>HTML: les listes</a:t>
            </a:r>
            <a:endParaRPr lang="fr-FR" sz="3200" b="1" dirty="0" smtClean="0">
              <a:latin typeface="Arial" panose="020B0604020202020204" pitchFamily="34" charset="0"/>
              <a:cs typeface="Arial" panose="020B0604020202020204" pitchFamily="34" charset="0"/>
            </a:endParaRPr>
          </a:p>
        </p:txBody>
      </p:sp>
      <p:sp>
        <p:nvSpPr>
          <p:cNvPr id="3" name="Rectangle 2"/>
          <p:cNvSpPr/>
          <p:nvPr/>
        </p:nvSpPr>
        <p:spPr>
          <a:xfrm>
            <a:off x="251520" y="1305342"/>
            <a:ext cx="8352928" cy="4893647"/>
          </a:xfrm>
          <a:prstGeom prst="rect">
            <a:avLst/>
          </a:prstGeom>
        </p:spPr>
        <p:txBody>
          <a:bodyPr wrap="square">
            <a:spAutoFit/>
          </a:bodyPr>
          <a:lstStyle/>
          <a:p>
            <a:r>
              <a:rPr lang="fr-FR" sz="2400" dirty="0">
                <a:latin typeface="Times New Roman" panose="02020603050405020304" pitchFamily="18" charset="0"/>
                <a:cs typeface="Times New Roman" panose="02020603050405020304" pitchFamily="18" charset="0"/>
              </a:rPr>
              <a:t>Il est possible de choisir le type de puce que nous souhaitons grâce à l'attribut </a:t>
            </a:r>
            <a:r>
              <a:rPr lang="fr-FR" sz="2400" b="1" dirty="0">
                <a:latin typeface="Times New Roman" panose="02020603050405020304" pitchFamily="18" charset="0"/>
                <a:cs typeface="Times New Roman" panose="02020603050405020304" pitchFamily="18" charset="0"/>
              </a:rPr>
              <a:t>type</a:t>
            </a:r>
            <a:r>
              <a:rPr lang="fr-FR" sz="2400" dirty="0">
                <a:latin typeface="Times New Roman" panose="02020603050405020304" pitchFamily="18" charset="0"/>
                <a:cs typeface="Times New Roman" panose="02020603050405020304" pitchFamily="18" charset="0"/>
              </a:rPr>
              <a:t>.</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Pour une liste ordonnée (</a:t>
            </a:r>
            <a:r>
              <a:rPr lang="fr-FR" sz="2400" b="1" dirty="0" err="1">
                <a:latin typeface="Times New Roman" panose="02020603050405020304" pitchFamily="18" charset="0"/>
                <a:cs typeface="Times New Roman" panose="02020603050405020304" pitchFamily="18" charset="0"/>
              </a:rPr>
              <a:t>ol</a:t>
            </a:r>
            <a:r>
              <a:rPr lang="fr-FR" sz="2400" dirty="0">
                <a:latin typeface="Times New Roman" panose="02020603050405020304" pitchFamily="18" charset="0"/>
                <a:cs typeface="Times New Roman" panose="02020603050405020304" pitchFamily="18" charset="0"/>
              </a:rPr>
              <a:t>), l'attribut type peut avoir les valeurs suivantes :</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type="1" =&gt; pour une suite numérique</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type="a" =&gt; pour une suite alphabétique</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type="A" =&gt; pour une suite alphabétique en majuscule</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type="I" =&gt; pour une suite numérique en chiffres romains</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Pour une liste non-ordonnée (</a:t>
            </a:r>
            <a:r>
              <a:rPr lang="fr-FR" sz="2400" b="1" dirty="0" err="1">
                <a:latin typeface="Times New Roman" panose="02020603050405020304" pitchFamily="18" charset="0"/>
                <a:cs typeface="Times New Roman" panose="02020603050405020304" pitchFamily="18" charset="0"/>
              </a:rPr>
              <a:t>ul</a:t>
            </a:r>
            <a:r>
              <a:rPr lang="fr-FR" sz="2400" dirty="0">
                <a:latin typeface="Times New Roman" panose="02020603050405020304" pitchFamily="18" charset="0"/>
                <a:cs typeface="Times New Roman" panose="02020603050405020304" pitchFamily="18" charset="0"/>
              </a:rPr>
              <a:t>), l'attribut type peut avoir les valeurs suivantes :</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type="disc" =&gt; pour un rond plein</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type="</a:t>
            </a:r>
            <a:r>
              <a:rPr lang="fr-FR" sz="2400" dirty="0" err="1">
                <a:latin typeface="Times New Roman" panose="02020603050405020304" pitchFamily="18" charset="0"/>
                <a:cs typeface="Times New Roman" panose="02020603050405020304" pitchFamily="18" charset="0"/>
              </a:rPr>
              <a:t>circle</a:t>
            </a:r>
            <a:r>
              <a:rPr lang="fr-FR" sz="2400" dirty="0">
                <a:latin typeface="Times New Roman" panose="02020603050405020304" pitchFamily="18" charset="0"/>
                <a:cs typeface="Times New Roman" panose="02020603050405020304" pitchFamily="18" charset="0"/>
              </a:rPr>
              <a:t>" =&gt; pour un rond vide</a:t>
            </a:r>
            <a:endParaRPr lang="fr-FR" sz="2400" dirty="0">
              <a:latin typeface="Times New Roman" panose="02020603050405020304" pitchFamily="18"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type="square" =&gt; pour un carré</a:t>
            </a:r>
            <a:endParaRPr lang="fr-FR"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custDataLst>
              <p:tags r:id="rId1"/>
            </p:custDataLst>
          </p:nvPr>
        </p:nvSpPr>
        <p:spPr>
          <a:xfrm>
            <a:off x="0" y="0"/>
            <a:ext cx="9144000" cy="92867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fr-FR" sz="3200" b="1" dirty="0" smtClean="0">
                <a:latin typeface="Arial" panose="020B0604020202020204" pitchFamily="34" charset="0"/>
                <a:cs typeface="Arial" panose="020B0604020202020204" pitchFamily="34" charset="0"/>
              </a:rPr>
              <a:t>HTML: les tableaux</a:t>
            </a:r>
            <a:endParaRPr lang="fr-FR" sz="3200" b="1" dirty="0" smtClean="0">
              <a:latin typeface="Arial" panose="020B0604020202020204" pitchFamily="34" charset="0"/>
              <a:cs typeface="Arial" panose="020B0604020202020204" pitchFamily="34" charset="0"/>
            </a:endParaRPr>
          </a:p>
        </p:txBody>
      </p:sp>
      <p:graphicFrame>
        <p:nvGraphicFramePr>
          <p:cNvPr id="3" name="Tableau 2"/>
          <p:cNvGraphicFramePr>
            <a:graphicFrameLocks noGrp="1"/>
          </p:cNvGraphicFramePr>
          <p:nvPr/>
        </p:nvGraphicFramePr>
        <p:xfrm>
          <a:off x="323528" y="1052736"/>
          <a:ext cx="8208912" cy="5151927"/>
        </p:xfrm>
        <a:graphic>
          <a:graphicData uri="http://schemas.openxmlformats.org/drawingml/2006/table">
            <a:tbl>
              <a:tblPr>
                <a:tableStyleId>{BDBED569-4797-4DF1-A0F4-6AAB3CD982D8}</a:tableStyleId>
              </a:tblPr>
              <a:tblGrid>
                <a:gridCol w="1224136"/>
                <a:gridCol w="6984776"/>
              </a:tblGrid>
              <a:tr h="122323">
                <a:tc>
                  <a:txBody>
                    <a:bodyPr/>
                    <a:lstStyle/>
                    <a:p>
                      <a:pPr algn="ct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Balise</a:t>
                      </a:r>
                      <a:endPar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Indication donnée au navigateur</a:t>
                      </a:r>
                      <a:endPar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r>
              <a:tr h="1467880">
                <a:tc>
                  <a:txBody>
                    <a:bodyPr/>
                    <a:lstStyle/>
                    <a:p>
                      <a:pPr algn="ct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&lt;table&gt;</a:t>
                      </a:r>
                      <a:endPar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Début d'un tableau. Cette balise propose les attributs suivants :</a:t>
                      </a:r>
                      <a:b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width="Val", Val étant un entier ou un pourcentage. Précise la largeur du tableau </a:t>
                      </a:r>
                      <a:b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cellpadding="Val", Val étant un entier. Précise l'espacement entre le texte d'une cellule et le bord de la cellule </a:t>
                      </a:r>
                      <a:b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cellspacing="Val", Val étant un entier. Précise l'espacement entre 2 cellules </a:t>
                      </a:r>
                      <a:b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border="Val", Val étant un entier. Précise la largeur du trait des bords des cellules</a:t>
                      </a:r>
                      <a:b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r>
              <a:tr h="122323">
                <a:tc>
                  <a:txBody>
                    <a:bodyPr/>
                    <a:lstStyle/>
                    <a:p>
                      <a:pPr algn="ct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&lt;/table&gt;</a:t>
                      </a:r>
                      <a:endPar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Fin d'un tableau.</a:t>
                      </a:r>
                      <a:endPar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r>
              <a:tr h="244647">
                <a:tc>
                  <a:txBody>
                    <a:bodyPr/>
                    <a:lstStyle/>
                    <a:p>
                      <a:pPr algn="ct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&lt;tr&gt;</a:t>
                      </a:r>
                      <a:endPar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Début d'une ligne du tableau [tr =&gt; table row].</a:t>
                      </a:r>
                      <a:endPar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r>
              <a:tr h="122323">
                <a:tc>
                  <a:txBody>
                    <a:bodyPr/>
                    <a:lstStyle/>
                    <a:p>
                      <a:pPr algn="ct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&lt;/tr&gt;</a:t>
                      </a:r>
                      <a:endPar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Fin d'une ligne du tableau.</a:t>
                      </a:r>
                      <a:endPar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r>
              <a:tr h="1590203">
                <a:tc>
                  <a:txBody>
                    <a:bodyPr/>
                    <a:lstStyle/>
                    <a:p>
                      <a:pPr algn="ct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&lt;td&gt;</a:t>
                      </a:r>
                      <a:endPar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Début d'une cellule (ou case) du tableau [td =&gt; table data]. Cette balise propose les attributs suivants :</a:t>
                      </a:r>
                      <a:b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width="Val", Val étant un entier ou un pourcentage. Précise la largeur de la cellule </a:t>
                      </a:r>
                      <a:b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align="Val", Val pouvant être left (gauche), right (droite), center (centré) ou justify (justifié). Précise l'alignement horizontal du texte. </a:t>
                      </a:r>
                      <a:b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valign="Val", Val pouvant être top (haut), bottom (bas), ou middle (milieu). Précise l'alignement vertical du texte. </a:t>
                      </a:r>
                      <a:b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r>
              <a:tr h="122323">
                <a:tc>
                  <a:txBody>
                    <a:bodyPr/>
                    <a:lstStyle/>
                    <a:p>
                      <a:pPr algn="ct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&lt;/td&gt;</a:t>
                      </a:r>
                      <a:endPar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Fin d'une cellule (ou case) du tableau.</a:t>
                      </a:r>
                      <a:endPar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r>
              <a:tr h="611617">
                <a:tc>
                  <a:txBody>
                    <a:bodyPr/>
                    <a:lstStyle/>
                    <a:p>
                      <a:pPr algn="ct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&lt;th&gt;</a:t>
                      </a:r>
                      <a:endPar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Début d'une cellule d'intitulé (entête, généralement utilisée pour la première ligne) du tableau [th =&gt; table header]. Cette balise propose les mêmes attributs que la balise td (cf ci-dessus).</a:t>
                      </a:r>
                      <a:endPar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r>
              <a:tr h="122323">
                <a:tc>
                  <a:txBody>
                    <a:bodyPr/>
                    <a:lstStyle/>
                    <a:p>
                      <a:pPr algn="ctr"/>
                      <a:r>
                        <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&lt;/th&gt;</a:t>
                      </a:r>
                      <a:endParaRPr lang="fr-FR" sz="1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a:r>
                        <a:rPr lang="fr-FR"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Fin d'une cellule d'intitulé du tableau.</a:t>
                      </a:r>
                      <a:endParaRPr lang="fr-FR"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0" marR="0" marT="0" marB="0" anchor="ctr"/>
                </a:tc>
              </a:tr>
            </a:tbl>
          </a:graphicData>
        </a:graphic>
      </p:graphicFrame>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NUM" val="1"/>
</p:tagLst>
</file>

<file path=ppt/tags/tag2.xml><?xml version="1.0" encoding="utf-8"?>
<p:tagLst xmlns:p="http://schemas.openxmlformats.org/presentationml/2006/main">
  <p:tag name="NUM" val="1"/>
</p:tagLst>
</file>

<file path=ppt/tags/tag3.xml><?xml version="1.0" encoding="utf-8"?>
<p:tagLst xmlns:p="http://schemas.openxmlformats.org/presentationml/2006/main">
  <p:tag name="NUM" val="1"/>
</p:tagLst>
</file>

<file path=ppt/tags/tag4.xml><?xml version="1.0" encoding="utf-8"?>
<p:tagLst xmlns:p="http://schemas.openxmlformats.org/presentationml/2006/main">
  <p:tag name="NUM" val="1"/>
</p:tagLst>
</file>

<file path=ppt/tags/tag5.xml><?xml version="1.0" encoding="utf-8"?>
<p:tagLst xmlns:p="http://schemas.openxmlformats.org/presentationml/2006/main">
  <p:tag name="NUM" val="1"/>
</p:tagLst>
</file>

<file path=ppt/tags/tag6.xml><?xml version="1.0" encoding="utf-8"?>
<p:tagLst xmlns:p="http://schemas.openxmlformats.org/presentationml/2006/main">
  <p:tag name="NUM" val="1"/>
</p:tagLst>
</file>

<file path=ppt/tags/tag7.xml><?xml version="1.0" encoding="utf-8"?>
<p:tagLst xmlns:p="http://schemas.openxmlformats.org/presentationml/2006/main">
  <p:tag name="NUM" val="1"/>
</p:tagLst>
</file>

<file path=ppt/tags/tag8.xml><?xml version="1.0" encoding="utf-8"?>
<p:tagLst xmlns:p="http://schemas.openxmlformats.org/presentationml/2006/main">
  <p:tag name="NUM" val="1"/>
</p:tagLst>
</file>

<file path=ppt/tags/tag9.xml><?xml version="1.0" encoding="utf-8"?>
<p:tagLst xmlns:p="http://schemas.openxmlformats.org/presentationml/2006/main">
  <p:tag name="NUM" val="1"/>
</p:tagLst>
</file>

<file path=ppt/tags/tag10.xml><?xml version="1.0" encoding="utf-8"?>
<p:tagLst xmlns:p="http://schemas.openxmlformats.org/presentationml/2006/main">
  <p:tag name="NUM" val="1"/>
</p:tagLst>
</file>

<file path=ppt/tags/tag11.xml><?xml version="1.0" encoding="utf-8"?>
<p:tagLst xmlns:p="http://schemas.openxmlformats.org/presentationml/2006/main">
  <p:tag name="NUM" val="1"/>
</p:tagLst>
</file>

<file path=ppt/tags/tag12.xml><?xml version="1.0" encoding="utf-8"?>
<p:tagLst xmlns:p="http://schemas.openxmlformats.org/presentationml/2006/main">
  <p:tag name="NUM" val="1"/>
</p:tagLst>
</file>

<file path=ppt/tags/tag13.xml><?xml version="1.0" encoding="utf-8"?>
<p:tagLst xmlns:p="http://schemas.openxmlformats.org/presentationml/2006/main">
  <p:tag name="NUM" val="1"/>
</p:tagLst>
</file>

<file path=ppt/tags/tag14.xml><?xml version="1.0" encoding="utf-8"?>
<p:tagLst xmlns:p="http://schemas.openxmlformats.org/presentationml/2006/main">
  <p:tag name="NUM" val="1"/>
</p:tagLst>
</file>

<file path=ppt/tags/tag15.xml><?xml version="1.0" encoding="utf-8"?>
<p:tagLst xmlns:p="http://schemas.openxmlformats.org/presentationml/2006/main">
  <p:tag name="NUM" val="1"/>
</p:tagLst>
</file>

<file path=ppt/tags/tag16.xml><?xml version="1.0" encoding="utf-8"?>
<p:tagLst xmlns:p="http://schemas.openxmlformats.org/presentationml/2006/main">
  <p:tag name="NUM" val="1"/>
</p:tagLst>
</file>

<file path=ppt/tags/tag17.xml><?xml version="1.0" encoding="utf-8"?>
<p:tagLst xmlns:p="http://schemas.openxmlformats.org/presentationml/2006/main">
  <p:tag name="NUM" val="1"/>
</p:tagLst>
</file>

<file path=ppt/tags/tag18.xml><?xml version="1.0" encoding="utf-8"?>
<p:tagLst xmlns:p="http://schemas.openxmlformats.org/presentationml/2006/main">
  <p:tag name="NUM" val="1"/>
</p:tagLst>
</file>

<file path=ppt/theme/theme1.xml><?xml version="1.0" encoding="utf-8"?>
<a:theme xmlns:a="http://schemas.openxmlformats.org/drawingml/2006/main" name="memoire finale M2 Abadi et Chebou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0</TotalTime>
  <Words>6387</Words>
  <Application>WPS Presentation</Application>
  <PresentationFormat>Affichage à l'écran (4:3)</PresentationFormat>
  <Paragraphs>208</Paragraphs>
  <Slides>17</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17</vt:i4>
      </vt:variant>
    </vt:vector>
  </HeadingPairs>
  <TitlesOfParts>
    <vt:vector size="30" baseType="lpstr">
      <vt:lpstr>Arial</vt:lpstr>
      <vt:lpstr>SimSun</vt:lpstr>
      <vt:lpstr>Wingdings</vt:lpstr>
      <vt:lpstr>Times New Roman</vt:lpstr>
      <vt:lpstr>TimesNewRomanPSMT</vt:lpstr>
      <vt:lpstr>SymbolMT</vt:lpstr>
      <vt:lpstr>Arial Unicode MS</vt:lpstr>
      <vt:lpstr>Courier New</vt:lpstr>
      <vt:lpstr>Calibri</vt:lpstr>
      <vt:lpstr>Microsoft YaHei</vt:lpstr>
      <vt:lpstr>Arial Unicode MS</vt:lpstr>
      <vt:lpstr>Segoe Print</vt:lpstr>
      <vt:lpstr>memoire finale M2 Abadi et Chebout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toufik</dc:title>
  <dc:creator>Toufik</dc:creator>
  <cp:lastModifiedBy>alla alla</cp:lastModifiedBy>
  <cp:revision>130</cp:revision>
  <dcterms:created xsi:type="dcterms:W3CDTF">2015-11-07T09:45:00Z</dcterms:created>
  <dcterms:modified xsi:type="dcterms:W3CDTF">2025-11-14T23:55:46Z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9AAB2EFCA6EA4915B950D0117B5D9DD5_12</vt:lpwstr>
  </property>
  <property fmtid="{D5CDD505-2E9C-101B-9397-08002B2CF9AE}" pid="3" name="KSOProductBuildVer">
    <vt:lpwstr>1033-12.2.0.23155</vt:lpwstr>
  </property>
</Properties>
</file>